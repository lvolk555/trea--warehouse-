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3" name="Image 0" descr="/workspace/assets/decoration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0"/>
            <a:ext cx="2286000" cy="2286000"/>
          </a:xfrm>
          <a:prstGeom prst="rect">
            <a:avLst/>
          </a:prstGeom>
        </p:spPr>
      </p:pic>
      <p:pic>
        <p:nvPicPr>
          <p:cNvPr id="4" name="Image 1" descr="/workspace/assets/school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2286000" cy="3657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57200" y="1097280"/>
            <a:ext cx="228600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6" name="Shape 2"/>
          <p:cNvSpPr/>
          <p:nvPr/>
        </p:nvSpPr>
        <p:spPr>
          <a:xfrm>
            <a:off x="457200" y="1371600"/>
            <a:ext cx="3200400" cy="457200"/>
          </a:xfrm>
          <a:prstGeom prst="roundRect">
            <a:avLst>
              <a:gd name="adj" fmla="val 20000"/>
            </a:avLst>
          </a:prstGeom>
          <a:solidFill>
            <a:srgbClr val="C9A227"/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3716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本科毕业论文（设计）答辩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457200" y="21031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基于SpringBoot的</a:t>
            </a:r>
            <a:endParaRPr lang="en-US" sz="2600" dirty="0"/>
          </a:p>
        </p:txBody>
      </p:sp>
      <p:sp>
        <p:nvSpPr>
          <p:cNvPr id="9" name="Text 5"/>
          <p:cNvSpPr/>
          <p:nvPr/>
        </p:nvSpPr>
        <p:spPr>
          <a:xfrm>
            <a:off x="457200" y="26517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9A227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生鲜超市综合管理系统</a:t>
            </a:r>
            <a:endParaRPr lang="en-US" sz="3200" dirty="0"/>
          </a:p>
        </p:txBody>
      </p:sp>
      <p:sp>
        <p:nvSpPr>
          <p:cNvPr id="10" name="Text 6"/>
          <p:cNvSpPr/>
          <p:nvPr/>
        </p:nvSpPr>
        <p:spPr>
          <a:xfrm>
            <a:off x="457200" y="32461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的设计与实现</a:t>
            </a:r>
            <a:endParaRPr lang="en-US" sz="2600" dirty="0"/>
          </a:p>
        </p:txBody>
      </p:sp>
      <p:sp>
        <p:nvSpPr>
          <p:cNvPr id="11" name="Shape 7"/>
          <p:cNvSpPr/>
          <p:nvPr/>
        </p:nvSpPr>
        <p:spPr>
          <a:xfrm>
            <a:off x="0" y="4023360"/>
            <a:ext cx="9144000" cy="1120140"/>
          </a:xfrm>
          <a:prstGeom prst="rect">
            <a:avLst/>
          </a:prstGeom>
          <a:solidFill>
            <a:srgbClr val="152A45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160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27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二级学院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457200" y="44348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电子信息工程学院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2651760" y="4160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27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专业班级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2651760" y="44348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计算机科学与技术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4846320" y="4160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27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学生姓名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4846320" y="44348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李磊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7040880" y="4160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227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指导教师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7040880" y="44348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王丽 / 夏威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0A4AE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西安思源学院 · 2026年5月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pic>
        <p:nvPicPr>
          <p:cNvPr id="3" name="Image 0" descr="/workspace/assets/decoration2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772400" y="0"/>
            <a:ext cx="1371600" cy="1371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4572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目录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548640" y="10515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137160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173736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1737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88720" y="1783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研究背景与意义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1188720" y="2240280"/>
            <a:ext cx="3200400" cy="9144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11" name="Shape 8"/>
          <p:cNvSpPr/>
          <p:nvPr/>
        </p:nvSpPr>
        <p:spPr>
          <a:xfrm>
            <a:off x="548640" y="251460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2" name="Text 9"/>
          <p:cNvSpPr/>
          <p:nvPr/>
        </p:nvSpPr>
        <p:spPr>
          <a:xfrm>
            <a:off x="54864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88720" y="2560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相关技术与可行性分析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1188720" y="3017520"/>
            <a:ext cx="3200400" cy="9144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15" name="Shape 12"/>
          <p:cNvSpPr/>
          <p:nvPr/>
        </p:nvSpPr>
        <p:spPr>
          <a:xfrm>
            <a:off x="548640" y="329184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6" name="Text 13"/>
          <p:cNvSpPr/>
          <p:nvPr/>
        </p:nvSpPr>
        <p:spPr>
          <a:xfrm>
            <a:off x="548640" y="3291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188720" y="33375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需求分析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1188720" y="3794760"/>
            <a:ext cx="3200400" cy="9144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19" name="Shape 16"/>
          <p:cNvSpPr/>
          <p:nvPr/>
        </p:nvSpPr>
        <p:spPr>
          <a:xfrm>
            <a:off x="548640" y="406908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20" name="Text 17"/>
          <p:cNvSpPr/>
          <p:nvPr/>
        </p:nvSpPr>
        <p:spPr>
          <a:xfrm>
            <a:off x="54864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188720" y="41148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系统设计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4663440" y="173736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23" name="Text 20"/>
          <p:cNvSpPr/>
          <p:nvPr/>
        </p:nvSpPr>
        <p:spPr>
          <a:xfrm>
            <a:off x="4663440" y="1737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303520" y="1783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系统实现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5303520" y="2240280"/>
            <a:ext cx="3200400" cy="9144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26" name="Shape 23"/>
          <p:cNvSpPr/>
          <p:nvPr/>
        </p:nvSpPr>
        <p:spPr>
          <a:xfrm>
            <a:off x="4663440" y="251460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27" name="Text 24"/>
          <p:cNvSpPr/>
          <p:nvPr/>
        </p:nvSpPr>
        <p:spPr>
          <a:xfrm>
            <a:off x="466344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303520" y="2560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系统测试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5303520" y="3017520"/>
            <a:ext cx="3200400" cy="9144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30" name="Shape 27"/>
          <p:cNvSpPr/>
          <p:nvPr/>
        </p:nvSpPr>
        <p:spPr>
          <a:xfrm>
            <a:off x="4663440" y="3291840"/>
            <a:ext cx="457200" cy="4572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31" name="Text 28"/>
          <p:cNvSpPr/>
          <p:nvPr/>
        </p:nvSpPr>
        <p:spPr>
          <a:xfrm>
            <a:off x="4663440" y="3291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303520" y="33375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3E5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总结与展望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3" name="Image 0" descr="/workspace/assets/decoration2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7315200" y="0"/>
            <a:ext cx="1828800" cy="18288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097280"/>
            <a:ext cx="1097280" cy="411480"/>
          </a:xfrm>
          <a:prstGeom prst="roundRect">
            <a:avLst>
              <a:gd name="adj" fmla="val 17778"/>
            </a:avLst>
          </a:prstGeom>
          <a:solidFill>
            <a:srgbClr val="C9A227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109728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173736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0" dirty="0"/>
          </a:p>
        </p:txBody>
      </p:sp>
      <p:sp>
        <p:nvSpPr>
          <p:cNvPr id="7" name="Shape 4"/>
          <p:cNvSpPr/>
          <p:nvPr/>
        </p:nvSpPr>
        <p:spPr>
          <a:xfrm>
            <a:off x="548640" y="3017520"/>
            <a:ext cx="274320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32918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研究背景与意义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48640" y="4572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西安思源学院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研究背景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Background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09728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45920"/>
            <a:ext cx="4114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45920"/>
            <a:ext cx="54864" cy="13716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8288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📈 市场规模扩大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40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数字经济与消费升级，生鲜行业市场规模持续扩大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846320" y="1645920"/>
            <a:ext cx="4114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46320" y="1645920"/>
            <a:ext cx="54864" cy="13716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18288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🔄 三重转型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0" y="2240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从卖货向卖服务转型、线上线下融合、多元化交易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200400"/>
            <a:ext cx="4114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3200400"/>
            <a:ext cx="54864" cy="13716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383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⚡ 供应链挑战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31520" y="379476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生鲜高时效性、易腐性对供应链敏捷性提出更高要求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46320" y="3200400"/>
            <a:ext cx="4114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46320" y="3200400"/>
            <a:ext cx="54864" cy="13716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0" y="3383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📉 运营痛点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029200" y="379476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冷链不完善、技术滞后导致高损耗率和运营成本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研究意义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Significance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09728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45920"/>
            <a:ext cx="2697480" cy="29260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45920"/>
            <a:ext cx="2697480" cy="731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8" name="Shape 6"/>
          <p:cNvSpPr/>
          <p:nvPr/>
        </p:nvSpPr>
        <p:spPr>
          <a:xfrm>
            <a:off x="1645920" y="2011680"/>
            <a:ext cx="502920" cy="5029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1645920" y="2011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269748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运营管理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77240" y="320040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实现业务流程自动化和规范化，实时监控采购、库存、销售环节，自动生成采购计划，减少损耗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74720" y="1645920"/>
            <a:ext cx="2697480" cy="29260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474720" y="1645920"/>
            <a:ext cx="2697480" cy="731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0" y="2011680"/>
            <a:ext cx="502920" cy="5029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2011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474720" y="269748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消费者体验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703320" y="320040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线上平台随时随地购物，及时了解优惠促销信息，商品质量追溯，购买放心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0" y="1645920"/>
            <a:ext cx="2697480" cy="29260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15">
                <a:alpha val="7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0" y="1645920"/>
            <a:ext cx="2697480" cy="73152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0" name="Shape 18"/>
          <p:cNvSpPr/>
          <p:nvPr/>
        </p:nvSpPr>
        <p:spPr>
          <a:xfrm>
            <a:off x="7498080" y="2011680"/>
            <a:ext cx="502920" cy="5029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0" y="2011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400800" y="269748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行业发展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29400" y="320040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推动生鲜行业数字化转型，优化供应链，提升运营效率，积累数据为决策提供支撑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3" name="Image 0" descr="/workspace/assets/decoration2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7315200" y="0"/>
            <a:ext cx="1828800" cy="18288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097280"/>
            <a:ext cx="1097280" cy="411480"/>
          </a:xfrm>
          <a:prstGeom prst="roundRect">
            <a:avLst>
              <a:gd name="adj" fmla="val 17778"/>
            </a:avLst>
          </a:prstGeom>
          <a:solidFill>
            <a:srgbClr val="C9A227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109728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173736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0" dirty="0"/>
          </a:p>
        </p:txBody>
      </p:sp>
      <p:sp>
        <p:nvSpPr>
          <p:cNvPr id="7" name="Shape 4"/>
          <p:cNvSpPr/>
          <p:nvPr/>
        </p:nvSpPr>
        <p:spPr>
          <a:xfrm>
            <a:off x="548640" y="3017520"/>
            <a:ext cx="274320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32918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相关技术与可行性分析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48640" y="4572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西安思源学院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相关技术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Stack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09728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45920"/>
            <a:ext cx="2057400" cy="29260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45920"/>
            <a:ext cx="2057400" cy="73152"/>
          </a:xfrm>
          <a:prstGeom prst="rect">
            <a:avLst/>
          </a:prstGeom>
          <a:solidFill>
            <a:srgbClr val="3182CE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96596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182C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B/S架构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097280" y="2468880"/>
            <a:ext cx="960120" cy="27432"/>
          </a:xfrm>
          <a:prstGeom prst="rect">
            <a:avLst/>
          </a:prstGeom>
          <a:solidFill>
            <a:srgbClr val="3182CE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697480"/>
            <a:ext cx="17830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浏览器/服务器模式，跨平台访问，降低用户使用门槛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0" y="1645920"/>
            <a:ext cx="2057400" cy="29260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0" y="1645920"/>
            <a:ext cx="2057400" cy="73152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0" y="196596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A16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SpringBoot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291840" y="2468880"/>
            <a:ext cx="960120" cy="27432"/>
          </a:xfrm>
          <a:prstGeom prst="rect">
            <a:avLst/>
          </a:prstGeom>
          <a:solidFill>
            <a:srgbClr val="38A169"/>
          </a:solidFill>
          <a:ln/>
        </p:spPr>
      </p:sp>
      <p:sp>
        <p:nvSpPr>
          <p:cNvPr id="15" name="Text 13"/>
          <p:cNvSpPr/>
          <p:nvPr/>
        </p:nvSpPr>
        <p:spPr>
          <a:xfrm>
            <a:off x="2880360" y="2697480"/>
            <a:ext cx="17830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自动配置、起步依赖，简化Java企业级应用开发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937760" y="1645920"/>
            <a:ext cx="2057400" cy="29260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937760" y="1645920"/>
            <a:ext cx="2057400" cy="73152"/>
          </a:xfrm>
          <a:prstGeom prst="rect">
            <a:avLst/>
          </a:prstGeom>
          <a:solidFill>
            <a:srgbClr val="DD6B20"/>
          </a:solidFill>
          <a:ln/>
        </p:spPr>
      </p:sp>
      <p:sp>
        <p:nvSpPr>
          <p:cNvPr id="18" name="Text 16"/>
          <p:cNvSpPr/>
          <p:nvPr/>
        </p:nvSpPr>
        <p:spPr>
          <a:xfrm>
            <a:off x="4937760" y="196596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6B20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Vue.js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0" y="2468880"/>
            <a:ext cx="960120" cy="27432"/>
          </a:xfrm>
          <a:prstGeom prst="rect">
            <a:avLst/>
          </a:prstGeom>
          <a:solidFill>
            <a:srgbClr val="DD6B20"/>
          </a:solidFill>
          <a:ln/>
        </p:spPr>
      </p:sp>
      <p:sp>
        <p:nvSpPr>
          <p:cNvPr id="20" name="Text 18"/>
          <p:cNvSpPr/>
          <p:nvPr/>
        </p:nvSpPr>
        <p:spPr>
          <a:xfrm>
            <a:off x="5074920" y="2697480"/>
            <a:ext cx="17830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渐进式前端框架，数据驱动、组件化设计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132320" y="1645920"/>
            <a:ext cx="2057400" cy="29260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132320" y="1645920"/>
            <a:ext cx="2057400" cy="73152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23" name="Text 21"/>
          <p:cNvSpPr/>
          <p:nvPr/>
        </p:nvSpPr>
        <p:spPr>
          <a:xfrm>
            <a:off x="7132320" y="196596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05AD5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MySQL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680960" y="2468880"/>
            <a:ext cx="960120" cy="27432"/>
          </a:xfrm>
          <a:prstGeom prst="rect">
            <a:avLst/>
          </a:prstGeom>
          <a:solidFill>
            <a:srgbClr val="805AD5"/>
          </a:solidFill>
          <a:ln/>
        </p:spPr>
      </p:sp>
      <p:sp>
        <p:nvSpPr>
          <p:cNvPr id="25" name="Text 23"/>
          <p:cNvSpPr/>
          <p:nvPr/>
        </p:nvSpPr>
        <p:spPr>
          <a:xfrm>
            <a:off x="7269480" y="2697480"/>
            <a:ext cx="17830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开源关系型数据库，高效稳定，支持高并发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可行性分析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 Analysis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09728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45920"/>
            <a:ext cx="2697480" cy="29260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45920"/>
            <a:ext cx="2697480" cy="5029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64592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技术可行性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233172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Java跨平台兼容性好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28346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SpringBoot自动配置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7240" y="333756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MySQL高效可靠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77240" y="384048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B/S架构降低门槛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474720" y="1645920"/>
            <a:ext cx="2697480" cy="29260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474720" y="1645920"/>
            <a:ext cx="2697480" cy="5029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3474720" y="164592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经济可行性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703320" y="233172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技术栈开源免费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703320" y="28346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降低开发授权成本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03320" y="333756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丰富社区资源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703320" y="384048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模块化降低维护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0" y="1645920"/>
            <a:ext cx="2697480" cy="29260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0" y="1645920"/>
            <a:ext cx="2697480" cy="5029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0" y="1645920"/>
            <a:ext cx="2697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操作可行性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629400" y="233172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浏览器即可访问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29400" y="283464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操作直观简单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629400" y="333756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数据校验辅助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629400" y="384048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跨平台多浏览器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3" name="Image 0" descr="/workspace/assets/decoration2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7315200" y="0"/>
            <a:ext cx="1828800" cy="18288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097280"/>
            <a:ext cx="1097280" cy="411480"/>
          </a:xfrm>
          <a:prstGeom prst="roundRect">
            <a:avLst>
              <a:gd name="adj" fmla="val 17778"/>
            </a:avLst>
          </a:prstGeom>
          <a:solidFill>
            <a:srgbClr val="C9A227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109728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173736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0" dirty="0"/>
          </a:p>
        </p:txBody>
      </p:sp>
      <p:sp>
        <p:nvSpPr>
          <p:cNvPr id="7" name="Shape 4"/>
          <p:cNvSpPr/>
          <p:nvPr/>
        </p:nvSpPr>
        <p:spPr>
          <a:xfrm>
            <a:off x="548640" y="3017520"/>
            <a:ext cx="274320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32918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需求分析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48640" y="4572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西安思源学院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图3-1 顶层数据流图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84124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6" name="Image 0" descr="/workspace/assets/fig3_1_dataflow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21031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3337560"/>
            <a:ext cx="84124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337560"/>
            <a:ext cx="54864" cy="14173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4290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7490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顶层数据流图展示系统与外部实体的交互关系，清晰呈现两类角色与系统间的核心信息交互。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864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管理员与用户为系统核心外部实体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65176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展示商品管理、订单处理等数据流向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75488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体现系统边界与外部交互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图3-2 系统一层数据流图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84124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6" name="Image 0" descr="/workspace/assets/fig3_2_dataflow_layer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21031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3337560"/>
            <a:ext cx="84124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337560"/>
            <a:ext cx="54864" cy="14173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4290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7490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一层数据流图将系统拆分为五大核心处理过程，明确各过程间的数据流转关系。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864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用户权限管理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65176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商品库存管理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75488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订单交易管理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85800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营销公告管理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48640" y="44805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系统数据管理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图3-3 管理员用例图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4114800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6" name="Image 0" descr="/workspace/assets/fig3_3_admin_use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3931920" cy="34747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663440" y="914400"/>
            <a:ext cx="4114800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663440" y="914400"/>
            <a:ext cx="411480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9" name="Text 6"/>
          <p:cNvSpPr/>
          <p:nvPr/>
        </p:nvSpPr>
        <p:spPr>
          <a:xfrm>
            <a:off x="4663440" y="9144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846320" y="1508760"/>
            <a:ext cx="37490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管理员用例图展示管理员角色的全部功能权限，涵盖系统全流程管控功能。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846320" y="2240280"/>
            <a:ext cx="3749040" cy="18288"/>
          </a:xfrm>
          <a:prstGeom prst="rect">
            <a:avLst/>
          </a:prstGeom>
          <a:solidFill>
            <a:srgbClr val="E9ECEF"/>
          </a:solidFill>
          <a:ln/>
        </p:spPr>
      </p:sp>
      <p:sp>
        <p:nvSpPr>
          <p:cNvPr id="12" name="Text 9"/>
          <p:cNvSpPr/>
          <p:nvPr/>
        </p:nvSpPr>
        <p:spPr>
          <a:xfrm>
            <a:off x="4846320" y="237744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商品管理、库存监控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846320" y="27889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订单处理、公告发布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846320" y="32004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投诉建议处理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846320" y="361188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日志查看、数据统计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图3-4 用户用例图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84124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6" name="Image 0" descr="/workspace/assets/fig3_4_user_use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21031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3337560"/>
            <a:ext cx="84124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337560"/>
            <a:ext cx="54864" cy="14173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4290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7490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用户用例图展示普通用户角色的全部功能，涵盖完整的购物服务流程。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864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商品浏览、在线购买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65176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购物车管理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75488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订单提交、优惠券领取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85800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个人中心管理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3" name="Image 0" descr="/workspace/assets/decoration2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7315200" y="0"/>
            <a:ext cx="1828800" cy="18288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097280"/>
            <a:ext cx="1097280" cy="411480"/>
          </a:xfrm>
          <a:prstGeom prst="roundRect">
            <a:avLst>
              <a:gd name="adj" fmla="val 17778"/>
            </a:avLst>
          </a:prstGeom>
          <a:solidFill>
            <a:srgbClr val="C9A227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109728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173736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0" dirty="0"/>
          </a:p>
        </p:txBody>
      </p:sp>
      <p:sp>
        <p:nvSpPr>
          <p:cNvPr id="7" name="Shape 4"/>
          <p:cNvSpPr/>
          <p:nvPr/>
        </p:nvSpPr>
        <p:spPr>
          <a:xfrm>
            <a:off x="548640" y="3017520"/>
            <a:ext cx="274320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32918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系统设计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48640" y="4572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西安思源学院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图4-1 系统总体架构图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84124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6" name="Image 0" descr="/workspace/assets/fig4_1_system_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21031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3337560"/>
            <a:ext cx="84124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337560"/>
            <a:ext cx="54864" cy="14173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4290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7490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系统采用SpringBoot+Vue前后端分离的分层架构，各层通过接口通信，降低耦合度。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864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表现层：Vue实现用户交互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65176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业务逻辑层：SpringBoot处理核心业务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75488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数据访问层：MyBatis与MySQL交互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图4-9 系统总体E-R图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84124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6" name="Image 0" descr="/workspace/assets/fig4_9_er_to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21031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3337560"/>
            <a:ext cx="84124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337560"/>
            <a:ext cx="54864" cy="14173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4290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7490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E-R图展示系统各实体间的关系，包括管理员、用户、商品、订单、优惠券、公告等核心实体。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864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管理员实体：管理优惠券、商品、公告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65176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用户实体：领取优惠券、下单购买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75488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商品信息实体：商品详情存储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85800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订单实体：交易记录存储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3" name="Image 0" descr="/workspace/assets/decoration2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7315200" y="0"/>
            <a:ext cx="1828800" cy="18288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097280"/>
            <a:ext cx="1097280" cy="411480"/>
          </a:xfrm>
          <a:prstGeom prst="roundRect">
            <a:avLst>
              <a:gd name="adj" fmla="val 17778"/>
            </a:avLst>
          </a:prstGeom>
          <a:solidFill>
            <a:srgbClr val="C9A227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109728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173736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0" dirty="0"/>
          </a:p>
        </p:txBody>
      </p:sp>
      <p:sp>
        <p:nvSpPr>
          <p:cNvPr id="7" name="Shape 4"/>
          <p:cNvSpPr/>
          <p:nvPr/>
        </p:nvSpPr>
        <p:spPr>
          <a:xfrm>
            <a:off x="548640" y="3017520"/>
            <a:ext cx="274320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32918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系统实现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48640" y="4572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西安思源学院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 用户登录页面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84124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6" name="Image 0" descr="/workspace/assets/fig5_1_user_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21031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3337560"/>
            <a:ext cx="84124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337560"/>
            <a:ext cx="54864" cy="14173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4290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7490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用户登录功能支持账号密码登录，系统通过后台验证用户身份，验证通过后生成会话令牌，跳转至系统前台首页。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864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账号密码登录验证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65176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会话令牌生成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75488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支持用户注册功能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85800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安全身份认证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图5-3 生鲜商品购买页面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84124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6" name="Image 0" descr="/workspace/assets/fig5_3_product_purch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21031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3337560"/>
            <a:ext cx="84124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337560"/>
            <a:ext cx="54864" cy="14173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4290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7490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商品购买功能允许用户浏览商品列表，查看商品详情，选择商品加入购物车或直接购买，系统自动跳转至支付页面完成下单流程。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864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商品列表浏览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65176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商品详情查看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75488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购物车管理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85800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在线支付下单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图5-5 优惠券领取页面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84124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6" name="Image 0" descr="/workspace/assets/fig5_5_coup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21031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3337560"/>
            <a:ext cx="84124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337560"/>
            <a:ext cx="54864" cy="14173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4290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7490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优惠券功能允许用户浏览可用优惠券，查看优惠详情，使用积分兑换或直接领取优惠券，领取后可在购物时使用获得折扣优惠。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864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优惠券列表展示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65176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积分兑换功能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75488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优惠券领取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85800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购物抵扣使用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图5-7 个人中心页面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84124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6" name="Image 0" descr="/workspace/assets/fig5_7_user_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21031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3337560"/>
            <a:ext cx="84124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337560"/>
            <a:ext cx="54864" cy="14173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4290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7490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个人中心功能允许用户管理个人信息、修改密码、查看订单记录、管理收货地址、查看积分余额等，实现个性化账户管理。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864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个人信息管理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65176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订单记录查看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75488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收货地址管理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85800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积分余额查询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图5-8 后台登录页面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84124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6" name="Image 0" descr="/workspace/assets/fig5_8_admin_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21031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3337560"/>
            <a:ext cx="84124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337560"/>
            <a:ext cx="54864" cy="14173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4290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7490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管理员登录功能，管理员输入账号密码，系统验证身份后生成会话标识，跳转至后台管理首页，可访问全部管理功能模块。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864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管理员身份验证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65176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会话标识生成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75488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权限控制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85800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后台首页跳转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图5-10 用户管理页面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84124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6" name="Image 0" descr="/workspace/assets/fig5_10_user_man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21031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3337560"/>
            <a:ext cx="84124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337560"/>
            <a:ext cx="54864" cy="14173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4290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7490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用户管理功能允许管理员查看所有注册用户信息，支持用户信息的增删改查操作，管理用户账号状态，保障系统访问安全。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864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用户信息查看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65176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用户增删改查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75488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账号状态管理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85800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访问安全保障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图5-11 商品信息管理页面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84124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6" name="Image 0" descr="/workspace/assets/fig5_11_product_man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21031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3337560"/>
            <a:ext cx="84124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337560"/>
            <a:ext cx="54864" cy="14173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4290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7490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商品管理功能允许管理员新增、编辑、删除商品信息，设置商品价格、库存、预警值，管理商品上下架状态，查看商品浏览量统计。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864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商品信息增删改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65176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价格库存设置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75488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库存预警配置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85800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上下架状态管理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图5-13 公告信息管理页面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84124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6" name="Image 0" descr="/workspace/assets/fig5_13_news_man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21031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3337560"/>
            <a:ext cx="84124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337560"/>
            <a:ext cx="54864" cy="14173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4290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7490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公告管理功能允许管理员发布、编辑、删除公告信息，公告内容支持富文本编辑，发布后用户端可实时查看最新公告动态。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864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公告发布编辑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65176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富文本编辑支持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75488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公告删除管理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85800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用户端实时展示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图5-15 优惠券管理页面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84124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6" name="Image 0" descr="/workspace/assets/fig5_15_coupon_man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21031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3337560"/>
            <a:ext cx="84124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337560"/>
            <a:ext cx="54864" cy="14173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4290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7490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优惠券管理功能允许管理员创建满减券、折扣券等多种类型优惠券，设置使用门槛、过期时间、所需积分，管理优惠券库存。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864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满减券/折扣券创建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65176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使用门槛设置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75488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过期时间配置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85800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积分兑换设置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图5-17 系统管理页面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85800"/>
            <a:ext cx="109728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914400"/>
            <a:ext cx="84124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pic>
        <p:nvPicPr>
          <p:cNvPr id="6" name="Image 0" descr="/workspace/assets/fig5_17_system_man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21031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65760" y="3337560"/>
            <a:ext cx="841248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10">
                <a:alpha val="7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3337560"/>
            <a:ext cx="54864" cy="14173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4290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功能说明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7490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系统管理功能允许管理员管理轮播图、系统简介等基础信息，配置系统参数，查看操作日志，保障系统安全稳定运行。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864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轮播图管理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65176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系统简介配置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75488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系统参数设置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85800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操作日志查看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3" name="Image 0" descr="/workspace/assets/decoration2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7315200" y="0"/>
            <a:ext cx="1828800" cy="18288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097280"/>
            <a:ext cx="1097280" cy="411480"/>
          </a:xfrm>
          <a:prstGeom prst="roundRect">
            <a:avLst>
              <a:gd name="adj" fmla="val 17778"/>
            </a:avLst>
          </a:prstGeom>
          <a:solidFill>
            <a:srgbClr val="C9A227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109728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173736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0" dirty="0"/>
          </a:p>
        </p:txBody>
      </p:sp>
      <p:sp>
        <p:nvSpPr>
          <p:cNvPr id="7" name="Shape 4"/>
          <p:cNvSpPr/>
          <p:nvPr/>
        </p:nvSpPr>
        <p:spPr>
          <a:xfrm>
            <a:off x="548640" y="3017520"/>
            <a:ext cx="274320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32918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系统测试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48640" y="4572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西安思源学院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系统测试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822960"/>
            <a:ext cx="91440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411480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测试环境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173736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操作系统: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920240" y="173736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CentOS 7.9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14884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处理器: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920240" y="214884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Intel Core i5-12400F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56032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后端框架: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920240" y="256032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SpringBoot 2.7.5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297180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数据库: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920240" y="29718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MySQL 8.0 + Redis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338328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前端框架: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920240" y="338328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Vue.js + Node.js 16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379476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测试方法: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920240" y="379476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黑盒测试为主、白盒测试为辅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0" y="1097280"/>
            <a:ext cx="411480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754880" y="1097280"/>
            <a:ext cx="4114800" cy="4572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0" y="10972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测试结果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937760" y="17373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A169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用户登录注册 — 通过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937760" y="21945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A169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商品信息管理 — 通过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37760" y="26517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A169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订单与购买 — 通过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937760" y="3108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A169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库存预警 — 通过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937760" y="3566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A169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公告管理 — 通过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37760" y="40233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A169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✓ 投诉建议 — 通过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7200" y="4572000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F0FFF4"/>
          </a:solidFill>
          <a:ln w="12700">
            <a:solidFill>
              <a:srgbClr val="38A16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6177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6749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结论：系统功能完整、性能稳定、安全可用，完全符合生鲜超市信息化管理需求，达到预期设计目标。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3" name="Image 0" descr="/workspace/assets/decoration2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7315200" y="0"/>
            <a:ext cx="1828800" cy="18288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097280"/>
            <a:ext cx="1097280" cy="411480"/>
          </a:xfrm>
          <a:prstGeom prst="roundRect">
            <a:avLst>
              <a:gd name="adj" fmla="val 17778"/>
            </a:avLst>
          </a:prstGeom>
          <a:solidFill>
            <a:srgbClr val="C9A227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109728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173736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0" dirty="0"/>
          </a:p>
        </p:txBody>
      </p:sp>
      <p:sp>
        <p:nvSpPr>
          <p:cNvPr id="7" name="Shape 4"/>
          <p:cNvSpPr/>
          <p:nvPr/>
        </p:nvSpPr>
        <p:spPr>
          <a:xfrm>
            <a:off x="548640" y="3017520"/>
            <a:ext cx="274320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32918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总结与展望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48640" y="45720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0A4AE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西安思源学院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5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总结与展望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822960"/>
            <a:ext cx="914400" cy="27432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41148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工作总结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采用SpringBoot+Vue前后端分离架构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B/S模式，MySQL数据库存储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用户端：商品浏览、在线购买、优惠券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管理端：商品/订单/库存/用户管理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数据可视化：Echarts多维分析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满足中小型生鲜超市信息化需求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097280"/>
            <a:ext cx="41148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4754880" y="1097280"/>
            <a:ext cx="4114800" cy="45720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0972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未来展望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37760" y="1691640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大数据分析实现个性化推荐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引入AI智能客服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增加供应商管理模块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开发移动端APP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加强用户行为分析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2C3E50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• 采用更先进的安全防护机制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A227"/>
          </a:solidFill>
          <a:ln/>
        </p:spPr>
      </p:sp>
      <p:pic>
        <p:nvPicPr>
          <p:cNvPr id="3" name="Image 0" descr="/workspace/assets/decoration2.png">    </p:cNvPr>
          <p:cNvPicPr>
            <a:picLocks noChangeAspect="1"/>
          </p:cNvPicPr>
          <p:nvPr/>
        </p:nvPicPr>
        <p:blipFill>
          <a:blip r:embed="rId1">
            <a:alphaModFix amt="85000"/>
          </a:blip>
          <a:stretch>
            <a:fillRect/>
          </a:stretch>
        </p:blipFill>
        <p:spPr>
          <a:xfrm>
            <a:off x="7315200" y="0"/>
            <a:ext cx="1828800" cy="1828800"/>
          </a:xfrm>
          <a:prstGeom prst="rect">
            <a:avLst/>
          </a:prstGeom>
        </p:spPr>
      </p:pic>
      <p:pic>
        <p:nvPicPr>
          <p:cNvPr id="4" name="Image 1" descr="/workspace/assets/school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731520"/>
            <a:ext cx="2286000" cy="36576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SimHei" pitchFamily="34" charset="0"/>
                <a:ea typeface="SimHei" pitchFamily="34" charset="-122"/>
                <a:cs typeface="SimHei" pitchFamily="34" charset="-120"/>
              </a:rPr>
              <a:t>感谢各位老师的聆听与指导</a:t>
            </a:r>
            <a:endParaRPr lang="en-US" sz="3800" dirty="0"/>
          </a:p>
        </p:txBody>
      </p:sp>
      <p:sp>
        <p:nvSpPr>
          <p:cNvPr id="6" name="Shape 2"/>
          <p:cNvSpPr/>
          <p:nvPr/>
        </p:nvSpPr>
        <p:spPr>
          <a:xfrm>
            <a:off x="3200400" y="2834640"/>
            <a:ext cx="2743200" cy="3657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7" name="Text 3"/>
          <p:cNvSpPr/>
          <p:nvPr/>
        </p:nvSpPr>
        <p:spPr>
          <a:xfrm>
            <a:off x="914400" y="31089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C4DE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答辩人：李磊    |    指导教师：王丽 / 夏威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914400" y="34747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0A4AE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电子信息工程学院 · 计算机科学与技术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914400" y="3840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8909C"/>
                </a:solidFill>
                <a:latin typeface="SimSun" pitchFamily="34" charset="0"/>
                <a:ea typeface="SimSun" pitchFamily="34" charset="-122"/>
                <a:cs typeface="SimSun" pitchFamily="34" charset="-120"/>
              </a:rPr>
              <a:t>西安思源学院 · 2026年5月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基于SpringBoot的生鲜超市综合管理系统的设计与实现 - 毕业答辩</dc:title>
  <dc:subject>PptxGenJS Presentation</dc:subject>
  <dc:creator>李磊</dc:creator>
  <cp:lastModifiedBy>李磊</cp:lastModifiedBy>
  <cp:revision>1</cp:revision>
  <dcterms:created xsi:type="dcterms:W3CDTF">2026-05-21T12:32:26Z</dcterms:created>
  <dcterms:modified xsi:type="dcterms:W3CDTF">2026-05-21T12:32:26Z</dcterms:modified>
</cp:coreProperties>
</file>