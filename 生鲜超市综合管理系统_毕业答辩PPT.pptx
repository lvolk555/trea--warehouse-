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8C00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457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spc="300" kern="0" dirty="0">
                <a:solidFill>
                  <a:srgbClr val="A8D5BA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本科毕业论文（设计）答辩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0" y="1051560"/>
            <a:ext cx="2743200" cy="27432"/>
          </a:xfrm>
          <a:prstGeom prst="rect">
            <a:avLst/>
          </a:prstGeom>
          <a:solidFill>
            <a:srgbClr val="FF8C00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28016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000" b="1" spc="15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基于SpringBoot的</a:t>
            </a:r>
            <a:endParaRPr lang="en-US" sz="3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000" b="1" spc="15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生鲜超市综合管理系统的设计与实现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30175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A8D5BA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学院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88920" y="30175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电子信息工程学院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011680" y="3401568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A8D5BA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专业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88920" y="340156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计算机科学与技术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011680" y="3785616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A8D5BA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班级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88920" y="378561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22级计科（本）03班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937760" y="30175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A8D5BA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学生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715000" y="30175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李磊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37760" y="3401568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A8D5BA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指导教师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715000" y="340156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王丽 / 夏威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3785616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A8D5BA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日期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715000" y="378561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2026年5月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F8C00"/>
          </a:solidFill>
          <a:ln/>
        </p:spPr>
      </p:sp>
      <p:sp>
        <p:nvSpPr>
          <p:cNvPr id="19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TRAE AI 生成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目  录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1069848"/>
            <a:ext cx="384048" cy="384048"/>
          </a:xfrm>
          <a:prstGeom prst="ellipse">
            <a:avLst/>
          </a:prstGeom>
          <a:solidFill>
            <a:srgbClr val="1B7A3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069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80160" y="1051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01  研究背景与意义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754880" y="105156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研究背景、研究意义与国内外现状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1527048"/>
            <a:ext cx="7680960" cy="9144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1618488"/>
            <a:ext cx="384048" cy="384048"/>
          </a:xfrm>
          <a:prstGeom prst="ellipse">
            <a:avLst/>
          </a:prstGeom>
          <a:solidFill>
            <a:srgbClr val="1B7A3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6184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80160" y="16002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02  相关技术与可行性分析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54880" y="160020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B/S架构、SpringBoot、Vue、MySQL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2075688"/>
            <a:ext cx="7680960" cy="9144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17" name="Shape 15"/>
          <p:cNvSpPr/>
          <p:nvPr/>
        </p:nvSpPr>
        <p:spPr>
          <a:xfrm>
            <a:off x="731520" y="2167128"/>
            <a:ext cx="384048" cy="384048"/>
          </a:xfrm>
          <a:prstGeom prst="ellipse">
            <a:avLst/>
          </a:prstGeom>
          <a:solidFill>
            <a:srgbClr val="1B7A3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1671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80160" y="21488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03  需求分析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754880" y="21488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业务需求、用户需求、功能需求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2624328"/>
            <a:ext cx="7680960" cy="9144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22" name="Shape 20"/>
          <p:cNvSpPr/>
          <p:nvPr/>
        </p:nvSpPr>
        <p:spPr>
          <a:xfrm>
            <a:off x="731520" y="2715768"/>
            <a:ext cx="384048" cy="384048"/>
          </a:xfrm>
          <a:prstGeom prst="ellipse">
            <a:avLst/>
          </a:prstGeom>
          <a:solidFill>
            <a:srgbClr val="1B7A3D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27157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80160" y="26974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04  系统设计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754880" y="269748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架构设计、数据库设计、模块设计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31520" y="3172968"/>
            <a:ext cx="7680960" cy="9144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520" y="3264408"/>
            <a:ext cx="384048" cy="384048"/>
          </a:xfrm>
          <a:prstGeom prst="ellipse">
            <a:avLst/>
          </a:prstGeom>
          <a:solidFill>
            <a:srgbClr val="1B7A3D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32644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80160" y="32461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05  系统实现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754880" y="32461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用户功能与管理员功能实现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31520" y="3721608"/>
            <a:ext cx="7680960" cy="9144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32" name="Shape 30"/>
          <p:cNvSpPr/>
          <p:nvPr/>
        </p:nvSpPr>
        <p:spPr>
          <a:xfrm>
            <a:off x="731520" y="3813048"/>
            <a:ext cx="384048" cy="384048"/>
          </a:xfrm>
          <a:prstGeom prst="ellipse">
            <a:avLst/>
          </a:prstGeom>
          <a:solidFill>
            <a:srgbClr val="1B7A3D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38130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06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280160" y="37947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06  系统测试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4754880" y="379476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测试环境、方法与测试结论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31520" y="4270248"/>
            <a:ext cx="7680960" cy="9144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37" name="Shape 35"/>
          <p:cNvSpPr/>
          <p:nvPr/>
        </p:nvSpPr>
        <p:spPr>
          <a:xfrm>
            <a:off x="731520" y="4361688"/>
            <a:ext cx="384048" cy="384048"/>
          </a:xfrm>
          <a:prstGeom prst="ellipse">
            <a:avLst/>
          </a:prstGeom>
          <a:solidFill>
            <a:srgbClr val="1B7A3D"/>
          </a:solidFill>
          <a:ln/>
        </p:spPr>
      </p:sp>
      <p:sp>
        <p:nvSpPr>
          <p:cNvPr id="38" name="Text 36"/>
          <p:cNvSpPr/>
          <p:nvPr/>
        </p:nvSpPr>
        <p:spPr>
          <a:xfrm>
            <a:off x="731520" y="43616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07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280160" y="4343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07  总结与展望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4754880" y="434340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研究成果总结与未来展望</a:t>
            </a:r>
            <a:endParaRPr lang="en-US" sz="1100" dirty="0"/>
          </a:p>
        </p:txBody>
      </p:sp>
      <p:sp>
        <p:nvSpPr>
          <p:cNvPr id="41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TRAE AI 生成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01  研究背景与意义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005840"/>
            <a:ext cx="1097280" cy="320040"/>
          </a:xfrm>
          <a:prstGeom prst="roundRect">
            <a:avLst>
              <a:gd name="adj" fmla="val 14286"/>
            </a:avLst>
          </a:prstGeom>
          <a:solidFill>
            <a:srgbClr val="1B7A3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00584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研究背景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数字经济快速发展与居民消费升级，生鲜行业市场规模持续扩大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19659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生鲜零售面临"三重转型"：从卖货到卖服务、线上线下融合、多元化交易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生鲜商品高时效性、易腐性对供应链敏捷性提出更高要求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29718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冷链基础设施不完善、技术应用滞后导致较高损耗率和运营成本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34747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亟需信息化管理系统降低运营成本、提升管理效能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E8F5E9"/>
          </a:solidFill>
          <a:ln w="12700">
            <a:solidFill>
              <a:srgbClr val="1B7A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4069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核心目标：构建覆盖生鲜商品全生命周期的信息化管理体系，实现业务流程自动化、规范化与可视化</a:t>
            </a:r>
            <a:endParaRPr lang="en-US" sz="1200" dirty="0"/>
          </a:p>
        </p:txBody>
      </p:sp>
      <p:sp>
        <p:nvSpPr>
          <p:cNvPr id="16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TRAE AI 生成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01  研究意义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097280"/>
            <a:ext cx="2560320" cy="32918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20">
                <a:alpha val="7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097280"/>
            <a:ext cx="2560320" cy="548640"/>
          </a:xfrm>
          <a:prstGeom prst="roundRect">
            <a:avLst>
              <a:gd name="adj" fmla="val 16667"/>
            </a:avLst>
          </a:prstGeom>
          <a:solidFill>
            <a:srgbClr val="1B7A3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0972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运营管理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18288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● 实现业务流程自动化和规范化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● 实时监控采购、库存、销售环节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31089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● 自动生成采购计划，减少损耗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83280" y="1097280"/>
            <a:ext cx="2560320" cy="32918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20">
                <a:alpha val="7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383280" y="1097280"/>
            <a:ext cx="2560320" cy="548640"/>
          </a:xfrm>
          <a:prstGeom prst="roundRect">
            <a:avLst>
              <a:gd name="adj" fmla="val 16667"/>
            </a:avLst>
          </a:prstGeom>
          <a:solidFill>
            <a:srgbClr val="1B7A3D"/>
          </a:solidFill>
          <a:ln/>
        </p:spPr>
      </p:sp>
      <p:sp>
        <p:nvSpPr>
          <p:cNvPr id="15" name="Text 13"/>
          <p:cNvSpPr/>
          <p:nvPr/>
        </p:nvSpPr>
        <p:spPr>
          <a:xfrm>
            <a:off x="3383280" y="10972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消费者体验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66160" y="18288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● 线上平台随时随地购物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56616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● 及时了解优惠促销信息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566160" y="31089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● 商品质量追溯，购买放心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1097280"/>
            <a:ext cx="2560320" cy="32918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20">
                <a:alpha val="7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0" y="1097280"/>
            <a:ext cx="2560320" cy="548640"/>
          </a:xfrm>
          <a:prstGeom prst="roundRect">
            <a:avLst>
              <a:gd name="adj" fmla="val 16667"/>
            </a:avLst>
          </a:prstGeom>
          <a:solidFill>
            <a:srgbClr val="1B7A3D"/>
          </a:solidFill>
          <a:ln/>
        </p:spPr>
      </p:sp>
      <p:sp>
        <p:nvSpPr>
          <p:cNvPr id="21" name="Text 19"/>
          <p:cNvSpPr/>
          <p:nvPr/>
        </p:nvSpPr>
        <p:spPr>
          <a:xfrm>
            <a:off x="6217920" y="10972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行业发展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0" y="18288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● 推动生鲜行业数字化转型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● 优化供应链，提升运营效率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0" y="31089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● 积累数据为决策提供支撑</a:t>
            </a:r>
            <a:endParaRPr lang="en-US" sz="1100" dirty="0"/>
          </a:p>
        </p:txBody>
      </p:sp>
      <p:sp>
        <p:nvSpPr>
          <p:cNvPr id="25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TRAE AI 生成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01  国内外研究现状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051560"/>
            <a:ext cx="3840480" cy="3474720"/>
          </a:xfrm>
          <a:prstGeom prst="roundRect">
            <a:avLst>
              <a:gd name="adj" fmla="val 2105"/>
            </a:avLst>
          </a:prstGeom>
          <a:solidFill>
            <a:srgbClr val="F0FFF0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051560"/>
            <a:ext cx="3840480" cy="41148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0515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国外研究现状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1600200"/>
            <a:ext cx="3474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SpringBoot框架简化Java企业级应用开发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模块化设计提升超市运营数据管理效率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优化数据存储结构与查询算法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不足：面向国外大型连锁零售，本土化适配不足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051560"/>
            <a:ext cx="3840480" cy="3474720"/>
          </a:xfrm>
          <a:prstGeom prst="roundRect">
            <a:avLst>
              <a:gd name="adj" fmla="val 2105"/>
            </a:avLst>
          </a:prstGeom>
          <a:solidFill>
            <a:srgbClr val="FFF8F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0" y="1051560"/>
            <a:ext cx="3840480" cy="411480"/>
          </a:xfrm>
          <a:prstGeom prst="rect">
            <a:avLst/>
          </a:prstGeom>
          <a:solidFill>
            <a:srgbClr val="FF8C00"/>
          </a:solidFill>
          <a:ln/>
        </p:spPr>
      </p:sp>
      <p:sp>
        <p:nvSpPr>
          <p:cNvPr id="13" name="Text 11"/>
          <p:cNvSpPr/>
          <p:nvPr/>
        </p:nvSpPr>
        <p:spPr>
          <a:xfrm>
            <a:off x="4754880" y="10515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国内研究现状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37760" y="1600200"/>
            <a:ext cx="3474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Java与SpringBoot技术体系成熟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通用超市管理系统研究较成熟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生鲜专项系统开始关注品类特性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不足：功能完整性、数据分析能力有限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617720"/>
            <a:ext cx="8046720" cy="0"/>
          </a:xfrm>
          <a:prstGeom prst="roundRect">
            <a:avLst>
              <a:gd name="adj" fmla="val Infinity"/>
            </a:avLst>
          </a:prstGeom>
          <a:solidFill>
            <a:srgbClr val="1B7A3D"/>
          </a:solidFill>
          <a:ln/>
        </p:spPr>
      </p:sp>
      <p:sp>
        <p:nvSpPr>
          <p:cNvPr id="16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TRAE AI 生成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01  本系统创新点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05156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B7A3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051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10515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前后端分离架构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34440" y="150876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采用SpringBoot+Vue前后端分离架构与B/S模式，兼顾开发效率、系统稳定性与用户交互体验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01168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B7A3D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011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34440" y="201168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生鲜专项功能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34440" y="246888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深度贴合生鲜业务特性，强化库存预警、新鲜度监控、临期提醒、损耗管控等专项功能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9718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B7A3D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971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34440" y="297180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数据可视化分析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34440" y="34290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集成Echarts数据可视化模块，实现销售、库存、用户行为多维度分析，支撑管理决策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9319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B7A3D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34440" y="39319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完整业务闭环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34440" y="43891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功能覆盖用户购物、订单支付、优惠券管理与管理员全流程管理，符合国内中小型生鲜超市需求</a:t>
            </a:r>
            <a:endParaRPr lang="en-US" sz="1100" dirty="0"/>
          </a:p>
        </p:txBody>
      </p:sp>
      <p:sp>
        <p:nvSpPr>
          <p:cNvPr id="23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TRAE AI 生成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02  相关技术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1965960" cy="34747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097280"/>
            <a:ext cx="1965960" cy="73152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37160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98DB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B/S架构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22960" y="1920240"/>
            <a:ext cx="1234440" cy="18288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103120"/>
            <a:ext cx="1691640" cy="2194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浏览器/服务器模式，用户无需安装客户端，跨平台访问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06040" y="1097280"/>
            <a:ext cx="1965960" cy="34747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606040" y="1097280"/>
            <a:ext cx="1965960" cy="73152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14" name="Text 12"/>
          <p:cNvSpPr/>
          <p:nvPr/>
        </p:nvSpPr>
        <p:spPr>
          <a:xfrm>
            <a:off x="2606040" y="137160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7A3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SpringBoot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971800" y="1920240"/>
            <a:ext cx="1234440" cy="18288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0" y="2103120"/>
            <a:ext cx="1691640" cy="2194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自动配置、起步依赖，简化Java企业级应用开发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1097280"/>
            <a:ext cx="1965960" cy="34747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1097280"/>
            <a:ext cx="1965960" cy="73152"/>
          </a:xfrm>
          <a:prstGeom prst="rect">
            <a:avLst/>
          </a:prstGeom>
          <a:solidFill>
            <a:srgbClr val="42B883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137160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2B883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Vue.js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120640" y="1920240"/>
            <a:ext cx="1234440" cy="18288"/>
          </a:xfrm>
          <a:prstGeom prst="rect">
            <a:avLst/>
          </a:prstGeom>
          <a:solidFill>
            <a:srgbClr val="42B883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2103120"/>
            <a:ext cx="1691640" cy="2194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渐进式前端框架，数据驱动、组件化，高效构建交互界面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903720" y="1097280"/>
            <a:ext cx="1965960" cy="34747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903720" y="1097280"/>
            <a:ext cx="1965960" cy="73152"/>
          </a:xfrm>
          <a:prstGeom prst="rect">
            <a:avLst/>
          </a:prstGeom>
          <a:solidFill>
            <a:srgbClr val="F29111"/>
          </a:solidFill>
          <a:ln/>
        </p:spPr>
      </p:sp>
      <p:sp>
        <p:nvSpPr>
          <p:cNvPr id="24" name="Text 22"/>
          <p:cNvSpPr/>
          <p:nvPr/>
        </p:nvSpPr>
        <p:spPr>
          <a:xfrm>
            <a:off x="6903720" y="137160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9111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MySQL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69480" y="1920240"/>
            <a:ext cx="1234440" cy="18288"/>
          </a:xfrm>
          <a:prstGeom prst="rect">
            <a:avLst/>
          </a:prstGeom>
          <a:solidFill>
            <a:srgbClr val="F29111"/>
          </a:solidFill>
          <a:ln/>
        </p:spPr>
      </p:sp>
      <p:sp>
        <p:nvSpPr>
          <p:cNvPr id="26" name="Text 24"/>
          <p:cNvSpPr/>
          <p:nvPr/>
        </p:nvSpPr>
        <p:spPr>
          <a:xfrm>
            <a:off x="7040880" y="2103120"/>
            <a:ext cx="1691640" cy="2194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开源关系型数据库，高效稳定，支持高并发数据存取</a:t>
            </a:r>
            <a:endParaRPr lang="en-US" sz="1100" dirty="0"/>
          </a:p>
        </p:txBody>
      </p:sp>
      <p:sp>
        <p:nvSpPr>
          <p:cNvPr id="27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TRAE AI 生成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02  可行性分析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97480" cy="356616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51560"/>
            <a:ext cx="2697480" cy="457200"/>
          </a:xfrm>
          <a:prstGeom prst="rect">
            <a:avLst>
              <a:gd name="adj" fmla="val 16000"/>
            </a:avLst>
          </a:prstGeom>
          <a:solidFill>
            <a:srgbClr val="1B7A3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05156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技术可行性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169164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Java跨平台兼容性好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0080" y="228600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SpringBoot自动配置提升开发效率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" y="288036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MySQL高效可靠，社区支持完善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347472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B/S架构降低用户使用门槛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37560" y="1051560"/>
            <a:ext cx="2697480" cy="356616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37560" y="1051560"/>
            <a:ext cx="2697480" cy="457200"/>
          </a:xfrm>
          <a:prstGeom prst="rect">
            <a:avLst>
              <a:gd name="adj" fmla="val 16000"/>
            </a:avLst>
          </a:prstGeom>
          <a:solidFill>
            <a:srgbClr val="1B7A3D"/>
          </a:solidFill>
          <a:ln/>
        </p:spPr>
      </p:sp>
      <p:sp>
        <p:nvSpPr>
          <p:cNvPr id="16" name="Text 14"/>
          <p:cNvSpPr/>
          <p:nvPr/>
        </p:nvSpPr>
        <p:spPr>
          <a:xfrm>
            <a:off x="3337560" y="105156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经济可行性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20440" y="169164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Java、SpringBoot、MySQL均为开源技术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520440" y="228600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大幅降低开发成本和授权费用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520440" y="288036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丰富的社区资源降低学习成本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520440" y="347472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模块化设计降低维护开销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17920" y="1051560"/>
            <a:ext cx="2697480" cy="356616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0" y="1051560"/>
            <a:ext cx="2697480" cy="457200"/>
          </a:xfrm>
          <a:prstGeom prst="rect">
            <a:avLst>
              <a:gd name="adj" fmla="val 16000"/>
            </a:avLst>
          </a:prstGeom>
          <a:solidFill>
            <a:srgbClr val="1B7A3D"/>
          </a:solidFill>
          <a:ln/>
        </p:spPr>
      </p:sp>
      <p:sp>
        <p:nvSpPr>
          <p:cNvPr id="23" name="Text 21"/>
          <p:cNvSpPr/>
          <p:nvPr/>
        </p:nvSpPr>
        <p:spPr>
          <a:xfrm>
            <a:off x="6217920" y="105156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操作可行性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0" y="169164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B/S架构，浏览器即可访问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0" y="228600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操作直观明了，学习成本低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00800" y="288036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数据校验和自动填充辅助功能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00800" y="347472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跨平台兼容，多浏览器支持</a:t>
            </a:r>
            <a:endParaRPr lang="en-US" sz="1050" dirty="0"/>
          </a:p>
        </p:txBody>
      </p:sp>
      <p:sp>
        <p:nvSpPr>
          <p:cNvPr id="28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TRAE AI 生成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03  需求分析 — 数据流图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48640" y="9601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图3-1 顶层数据流图</a:t>
            </a:r>
            <a:endParaRPr lang="en-US" sz="1100" dirty="0"/>
          </a:p>
        </p:txBody>
      </p:sp>
      <p:pic>
        <p:nvPicPr>
          <p:cNvPr id="8" name="Image 0" descr="/workspace/assets/fig3_1_dataflow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3840480" cy="1371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754880" y="9601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图3-2 系统一层数据流图</a:t>
            </a:r>
            <a:endParaRPr lang="en-US" sz="1100" dirty="0"/>
          </a:p>
        </p:txBody>
      </p:sp>
      <p:pic>
        <p:nvPicPr>
          <p:cNvPr id="10" name="Image 1" descr="/workspace/assets/fig3_2_dataflow_layer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280160"/>
            <a:ext cx="4206240" cy="3200400"/>
          </a:xfrm>
          <a:prstGeom prst="rect">
            <a:avLst/>
          </a:prstGeom>
        </p:spPr>
      </p:pic>
      <p:sp>
        <p:nvSpPr>
          <p:cNvPr id="11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TRAE AI 生成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03  需求分析 — 用例图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48640" y="9601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图3-3 管理员用例图</a:t>
            </a:r>
            <a:endParaRPr lang="en-US" sz="1100" dirty="0"/>
          </a:p>
        </p:txBody>
      </p:sp>
      <p:pic>
        <p:nvPicPr>
          <p:cNvPr id="8" name="Image 0" descr="/workspace/assets/fig3_3_admin_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3840480" cy="34747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754880" y="9601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图3-4 用户用例图</a:t>
            </a:r>
            <a:endParaRPr lang="en-US" sz="1100" dirty="0"/>
          </a:p>
        </p:txBody>
      </p:sp>
      <p:pic>
        <p:nvPicPr>
          <p:cNvPr id="10" name="Image 1" descr="/workspace/assets/fig3_4_user_usec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80160"/>
            <a:ext cx="3840480" cy="3474720"/>
          </a:xfrm>
          <a:prstGeom prst="rect">
            <a:avLst/>
          </a:prstGeom>
        </p:spPr>
      </p:pic>
      <p:sp>
        <p:nvSpPr>
          <p:cNvPr id="11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TRAE AI 生成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03  功能需求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41148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51560"/>
            <a:ext cx="73152" cy="17373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143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商品与库存管理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155448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商品分类管理、商品信息全生命周期管理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85800" y="193852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实时库存监控、库存预警机制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85800" y="232257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库存出入库明细记录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46320" y="1051560"/>
            <a:ext cx="41148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46320" y="1051560"/>
            <a:ext cx="73152" cy="17373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15" name="Text 13"/>
          <p:cNvSpPr/>
          <p:nvPr/>
        </p:nvSpPr>
        <p:spPr>
          <a:xfrm>
            <a:off x="5074920" y="1143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订单与销售管理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74920" y="155448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完整线上销售流程：下单、支付、跟踪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74920" y="193852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雪花算法生成唯一订单号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74920" y="232257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多种支付方式、退款换货审核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2971800"/>
            <a:ext cx="41148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971800"/>
            <a:ext cx="73152" cy="17373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063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会员与促销管理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" y="347472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会员注册、等级、积分体系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85800" y="385876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VIP会员创建与升级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85800" y="424281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优惠券管理与积分兑换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846320" y="2971800"/>
            <a:ext cx="41148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46320" y="2971800"/>
            <a:ext cx="73152" cy="17373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27" name="Text 25"/>
          <p:cNvSpPr/>
          <p:nvPr/>
        </p:nvSpPr>
        <p:spPr>
          <a:xfrm>
            <a:off x="5074920" y="3063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数据可视化分析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74920" y="347472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Echarts图表库可视化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074920" y="385876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销售、库存、用户行为多维分析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74920" y="424281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生成统计报表支撑决策</a:t>
            </a:r>
            <a:endParaRPr lang="en-US" sz="1050" dirty="0"/>
          </a:p>
        </p:txBody>
      </p:sp>
      <p:sp>
        <p:nvSpPr>
          <p:cNvPr id="31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TRAE AI 生成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04  系统设计 — 总体架构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48640" y="960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图4-1 系统总体架构图</a:t>
            </a:r>
            <a:endParaRPr lang="en-US" sz="1100" dirty="0"/>
          </a:p>
        </p:txBody>
      </p:sp>
      <p:pic>
        <p:nvPicPr>
          <p:cNvPr id="8" name="Image 0" descr="/workspace/assets/fig4_1_system_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8229600" cy="3474720"/>
          </a:xfrm>
          <a:prstGeom prst="rect">
            <a:avLst/>
          </a:prstGeom>
        </p:spPr>
      </p:pic>
      <p:sp>
        <p:nvSpPr>
          <p:cNvPr id="9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TRAE AI 生成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04  数据库设计 — E-R图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48640" y="960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图4-9 系统总体E-R图</a:t>
            </a:r>
            <a:endParaRPr lang="en-US" sz="1100" dirty="0"/>
          </a:p>
        </p:txBody>
      </p:sp>
      <p:pic>
        <p:nvPicPr>
          <p:cNvPr id="8" name="Image 0" descr="/workspace/assets/fig4_9_er_to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234440"/>
            <a:ext cx="6400800" cy="3566160"/>
          </a:xfrm>
          <a:prstGeom prst="rect">
            <a:avLst/>
          </a:prstGeom>
        </p:spPr>
      </p:pic>
      <p:sp>
        <p:nvSpPr>
          <p:cNvPr id="9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TRAE AI 生成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04  数据库设计 — 核心数据表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14</a:t>
            </a:r>
            <a:endParaRPr lang="en-US" sz="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347472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数据表名称</a:t>
                      </a:r>
                      <a:endParaRPr lang="en-US" sz="10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7A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主要字段</a:t>
                      </a:r>
                      <a:endParaRPr lang="en-US" sz="10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7A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45C2E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后台管理用户表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3E5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admin_id, username, password, real_name, gender, phone, avatar, email, role, create_time</a:t>
                      </a:r>
                      <a:endParaRPr lang="en-US" sz="8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45C2E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商品信息表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3E5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product_id, product_name, category_id, brand, unit, original_price, stock, view_count, status, stock_warning, member_price</a:t>
                      </a:r>
                      <a:endParaRPr lang="en-US" sz="8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45C2E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订单表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3E5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order_id, order_no, user_id, product_id, quantity, price, total_price, status, address, phone, receiver, logistics</a:t>
                      </a:r>
                      <a:endParaRPr lang="en-US" sz="8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45C2E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用户表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3E5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user_id, username, password, role, nickname, avatar, phone, email, balance, create_time</a:t>
                      </a:r>
                      <a:endParaRPr lang="en-US" sz="8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45C2E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优惠券表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3E5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coupon_id, name, type, min_spend, expire_date, points_required, stock, coupon_amount, discount</a:t>
                      </a:r>
                      <a:endParaRPr lang="en-US" sz="8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45C2E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公告信息表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3E5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announcement_id, create_time, title, summary, image, content</a:t>
                      </a:r>
                      <a:endParaRPr lang="en-US" sz="8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TRAE AI 生成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04  系统设计 — 类图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48640" y="9601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图4-10 生鲜超市综合管理平台类图</a:t>
            </a:r>
            <a:endParaRPr lang="en-US" sz="1100" dirty="0"/>
          </a:p>
        </p:txBody>
      </p:sp>
      <p:pic>
        <p:nvPicPr>
          <p:cNvPr id="8" name="Image 0" descr="/workspace/assets/fig4_10_class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234440"/>
            <a:ext cx="6949440" cy="3566160"/>
          </a:xfrm>
          <a:prstGeom prst="rect">
            <a:avLst/>
          </a:prstGeom>
        </p:spPr>
      </p:pic>
      <p:sp>
        <p:nvSpPr>
          <p:cNvPr id="9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TRAE AI 生成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04  功能模块设计 — 核心时序图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74320" y="9144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权限管理时序图</a:t>
            </a:r>
            <a:endParaRPr lang="en-US" sz="1000" dirty="0"/>
          </a:p>
        </p:txBody>
      </p:sp>
      <p:pic>
        <p:nvPicPr>
          <p:cNvPr id="8" name="Image 0" descr="/workspace/assets/fig4_12_auth_sequ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188720"/>
            <a:ext cx="2834640" cy="33832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200400" y="9144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订单交易支付时序图</a:t>
            </a:r>
            <a:endParaRPr lang="en-US" sz="1000" dirty="0"/>
          </a:p>
        </p:txBody>
      </p:sp>
      <p:pic>
        <p:nvPicPr>
          <p:cNvPr id="10" name="Image 1" descr="/workspace/assets/fig4_13_order_seque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188720"/>
            <a:ext cx="2926080" cy="33832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217920" y="9144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商品管理时序图</a:t>
            </a:r>
            <a:endParaRPr lang="en-US" sz="1000" dirty="0"/>
          </a:p>
        </p:txBody>
      </p:sp>
      <p:pic>
        <p:nvPicPr>
          <p:cNvPr id="12" name="Image 2" descr="/workspace/assets/fig4_14_product_sequ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188720"/>
            <a:ext cx="2834640" cy="3383280"/>
          </a:xfrm>
          <a:prstGeom prst="rect">
            <a:avLst/>
          </a:prstGeom>
        </p:spPr>
      </p:pic>
      <p:sp>
        <p:nvSpPr>
          <p:cNvPr id="13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TRAE AI 生成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05  系统实现 — 用户功能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48640" y="914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 用户登录页面</a:t>
            </a:r>
            <a:endParaRPr lang="en-US" sz="1000" dirty="0"/>
          </a:p>
        </p:txBody>
      </p:sp>
      <p:pic>
        <p:nvPicPr>
          <p:cNvPr id="8" name="Image 0" descr="/workspace/assets/fig5_1_user_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3931920" cy="3200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754880" y="914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图5-3 生鲜商品购买页面</a:t>
            </a:r>
            <a:endParaRPr lang="en-US" sz="1000" dirty="0"/>
          </a:p>
        </p:txBody>
      </p:sp>
      <p:pic>
        <p:nvPicPr>
          <p:cNvPr id="10" name="Image 1" descr="/workspace/assets/fig5_3_product_purch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0"/>
            <a:ext cx="3931920" cy="3200400"/>
          </a:xfrm>
          <a:prstGeom prst="rect">
            <a:avLst/>
          </a:prstGeom>
        </p:spPr>
      </p:pic>
      <p:sp>
        <p:nvSpPr>
          <p:cNvPr id="11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TRAE AI 生成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05  系统实现 — 用户功能（续）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18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48640" y="914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图5-5 优惠券领取页面</a:t>
            </a:r>
            <a:endParaRPr lang="en-US" sz="1000" dirty="0"/>
          </a:p>
        </p:txBody>
      </p:sp>
      <p:pic>
        <p:nvPicPr>
          <p:cNvPr id="8" name="Image 0" descr="/workspace/assets/fig5_5_coup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3931920" cy="3200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754880" y="914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图5-7 个人中心页面</a:t>
            </a:r>
            <a:endParaRPr lang="en-US" sz="1000" dirty="0"/>
          </a:p>
        </p:txBody>
      </p:sp>
      <p:pic>
        <p:nvPicPr>
          <p:cNvPr id="10" name="Image 1" descr="/workspace/assets/fig5_7_user_cen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0"/>
            <a:ext cx="3931920" cy="3200400"/>
          </a:xfrm>
          <a:prstGeom prst="rect">
            <a:avLst/>
          </a:prstGeom>
        </p:spPr>
      </p:pic>
      <p:sp>
        <p:nvSpPr>
          <p:cNvPr id="11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TRAE AI 生成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05  系统实现 — 管理员功能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48640" y="914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图5-8 后台登录页面</a:t>
            </a:r>
            <a:endParaRPr lang="en-US" sz="1000" dirty="0"/>
          </a:p>
        </p:txBody>
      </p:sp>
      <p:pic>
        <p:nvPicPr>
          <p:cNvPr id="8" name="Image 0" descr="/workspace/assets/fig5_8_admin_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3931920" cy="3200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754880" y="914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图5-10 用户管理页面</a:t>
            </a:r>
            <a:endParaRPr lang="en-US" sz="1000" dirty="0"/>
          </a:p>
        </p:txBody>
      </p:sp>
      <p:pic>
        <p:nvPicPr>
          <p:cNvPr id="10" name="Image 1" descr="/workspace/assets/fig5_10_user_man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0"/>
            <a:ext cx="3931920" cy="3200400"/>
          </a:xfrm>
          <a:prstGeom prst="rect">
            <a:avLst/>
          </a:prstGeom>
        </p:spPr>
      </p:pic>
      <p:sp>
        <p:nvSpPr>
          <p:cNvPr id="11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TRAE AI 生成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05  系统实现 — 管理员功能（续）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48640" y="914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图5-11 商品信息管理页面</a:t>
            </a:r>
            <a:endParaRPr lang="en-US" sz="1000" dirty="0"/>
          </a:p>
        </p:txBody>
      </p:sp>
      <p:pic>
        <p:nvPicPr>
          <p:cNvPr id="8" name="Image 0" descr="/workspace/assets/fig5_11_product_man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3931920" cy="3200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754880" y="914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图5-13 公告信息管理页面</a:t>
            </a:r>
            <a:endParaRPr lang="en-US" sz="1000" dirty="0"/>
          </a:p>
        </p:txBody>
      </p:sp>
      <p:pic>
        <p:nvPicPr>
          <p:cNvPr id="10" name="Image 1" descr="/workspace/assets/fig5_13_news_man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0"/>
            <a:ext cx="3931920" cy="3200400"/>
          </a:xfrm>
          <a:prstGeom prst="rect">
            <a:avLst/>
          </a:prstGeom>
        </p:spPr>
      </p:pic>
      <p:sp>
        <p:nvSpPr>
          <p:cNvPr id="11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TRAE AI 生成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05  系统实现 — 管理员功能（续）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21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48640" y="914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图5-15 优惠券管理页面</a:t>
            </a:r>
            <a:endParaRPr lang="en-US" sz="1000" dirty="0"/>
          </a:p>
        </p:txBody>
      </p:sp>
      <p:pic>
        <p:nvPicPr>
          <p:cNvPr id="8" name="Image 0" descr="/workspace/assets/fig5_15_coupon_man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3931920" cy="3200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754880" y="914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图5-17 系统管理页面</a:t>
            </a:r>
            <a:endParaRPr lang="en-US" sz="1000" dirty="0"/>
          </a:p>
        </p:txBody>
      </p:sp>
      <p:pic>
        <p:nvPicPr>
          <p:cNvPr id="10" name="Image 1" descr="/workspace/assets/fig5_17_system_man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0"/>
            <a:ext cx="3931920" cy="3200400"/>
          </a:xfrm>
          <a:prstGeom prst="rect">
            <a:avLst/>
          </a:prstGeom>
        </p:spPr>
      </p:pic>
      <p:sp>
        <p:nvSpPr>
          <p:cNvPr id="11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TRAE AI 生成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06  系统测试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48640" y="9144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测试环境</a:t>
            </a:r>
            <a:endParaRPr lang="en-US" sz="1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3840480" cy="2560320"/>
        </p:xfrm>
        <a:graphic>
          <a:graphicData uri="http://schemas.openxmlformats.org/drawingml/2006/table">
            <a:tbl>
              <a:tblPr/>
              <a:tblGrid>
                <a:gridCol w="1371600"/>
                <a:gridCol w="24688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项目</a:t>
                      </a:r>
                      <a:endParaRPr lang="en-US" sz="10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7A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配置</a:t>
                      </a:r>
                      <a:endParaRPr lang="en-US" sz="10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7A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操作系统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CentOS 7.9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处理器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Intel Core i5-12400F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后端框架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SpringBoot 2.7.5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数据库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MySQL 8.0 + Redis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前端框架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Vue.js + Node.js 16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测试方法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黑盒测试为主、白盒测试为辅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754880" y="9144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测试结论</a:t>
            </a:r>
            <a:endParaRPr lang="en-US" sz="1200" dirty="0"/>
          </a:p>
        </p:txBody>
      </p:sp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234440"/>
          <a:ext cx="4114800" cy="256032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测试模块</a:t>
                      </a:r>
                      <a:endParaRPr lang="en-US" sz="10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7A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结果</a:t>
                      </a:r>
                      <a:endParaRPr lang="en-US" sz="10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7A3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用户登录注册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✓ 通过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商品信息管理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✓ 通过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订单与购买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✓ 通过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库存预警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✓ 通过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公告管理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✓ 通过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投诉建议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✓ 通过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系统日志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✓ 通过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397764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E8F5E9"/>
          </a:solidFill>
          <a:ln w="12700">
            <a:solidFill>
              <a:srgbClr val="1B7A3D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结论：系统功能完整、性能稳定、安全可用、业务流程顺畅，完全符合生鲜超市信息化管理需求，达到预期设计目标。</a:t>
            </a:r>
            <a:endParaRPr lang="en-US" sz="1100" dirty="0"/>
          </a:p>
        </p:txBody>
      </p:sp>
      <p:sp>
        <p:nvSpPr>
          <p:cNvPr id="46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TRAE AI 生成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07  总结与展望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23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0FFF0"/>
          </a:solidFill>
          <a:ln w="12700">
            <a:solidFill>
              <a:srgbClr val="1B7A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51560"/>
            <a:ext cx="4023360" cy="41148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05156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工作总结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160020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采用SpringBoot+Vue前后端分离架构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B/S模式，MySQL数据库存储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用户端：商品浏览、在线购买、优惠券、个人中心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管理端：商品/订单/库存/用户/公告/优惠券管理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数据可视化：Echarts多维数据分析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系统运行稳定，功能体系完善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满足中小型生鲜超市信息化建设需求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FF8F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051560"/>
            <a:ext cx="4023360" cy="411480"/>
          </a:xfrm>
          <a:prstGeom prst="rect">
            <a:avLst/>
          </a:prstGeom>
          <a:solidFill>
            <a:srgbClr val="FF8C00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105156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未来展望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160020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大数据分析实现个性化商品推荐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引入AI智能客服，实时解答用户疑问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增加供应商管理模块，优化供应链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开发移动端APP，支持随时随地购物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加强用户行为分析与市场趋势预测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采用更先进的安全防护机制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适应不断变化的市场需求</a:t>
            </a:r>
            <a:endParaRPr lang="en-US" sz="1050" dirty="0"/>
          </a:p>
        </p:txBody>
      </p:sp>
      <p:sp>
        <p:nvSpPr>
          <p:cNvPr id="15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TRAE AI 生成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3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8C00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spc="3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感谢各位老师的聆听与指导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0" y="2468880"/>
            <a:ext cx="2743200" cy="27432"/>
          </a:xfrm>
          <a:prstGeom prst="rect">
            <a:avLst/>
          </a:prstGeom>
          <a:solidFill>
            <a:srgbClr val="FF8C00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80000"/>
              </a:lnSpc>
              <a:buNone/>
            </a:pPr>
            <a:r>
              <a:rPr lang="en-US" sz="1600" dirty="0">
                <a:solidFill>
                  <a:srgbClr val="A8D5BA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答辩人：李磊</a:t>
            </a:r>
            <a:endParaRPr lang="en-US" sz="1600" dirty="0"/>
          </a:p>
          <a:p>
            <a:pPr algn="ctr" indent="0" marL="0">
              <a:lnSpc>
                <a:spcPct val="180000"/>
              </a:lnSpc>
              <a:buNone/>
            </a:pPr>
            <a:r>
              <a:rPr lang="en-US" sz="1600" dirty="0">
                <a:solidFill>
                  <a:srgbClr val="A8D5BA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指导教师：王丽 / 夏威</a:t>
            </a:r>
            <a:endParaRPr lang="en-US" sz="1600" dirty="0"/>
          </a:p>
          <a:p>
            <a:pPr algn="ctr" indent="0" marL="0">
              <a:lnSpc>
                <a:spcPct val="180000"/>
              </a:lnSpc>
              <a:buNone/>
            </a:pPr>
            <a:r>
              <a:rPr lang="en-US" sz="1600" dirty="0">
                <a:solidFill>
                  <a:srgbClr val="A8D5BA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电子信息工程学院 · 计算机科学与技术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F8C00"/>
          </a:solidFill>
          <a:ln/>
        </p:spPr>
      </p:sp>
      <p:sp>
        <p:nvSpPr>
          <p:cNvPr id="7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TRAE AI 生成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基于SpringBoot的生鲜超市综合管理系统的设计与实现 - 毕业答辩</dc:title>
  <dc:subject>PptxGenJS Presentation</dc:subject>
  <dc:creator>李磊</dc:creator>
  <cp:lastModifiedBy>李磊</cp:lastModifiedBy>
  <cp:revision>1</cp:revision>
  <dcterms:created xsi:type="dcterms:W3CDTF">2026-05-21T10:26:50Z</dcterms:created>
  <dcterms:modified xsi:type="dcterms:W3CDTF">2026-05-21T10:26:50Z</dcterms:modified>
</cp:coreProperties>
</file>