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spc="300" kern="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1051560"/>
            <a:ext cx="2743200" cy="2743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8016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000" b="1" spc="15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3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000" b="1" spc="15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生鲜超市综合管理系统的设计与实现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88920" y="30175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340156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34015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378561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班级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88920" y="37856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22级计科（本）03班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30175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15000" y="30175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340156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15000" y="34015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378561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A8D5BA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15000" y="37856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2026年5月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  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06984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69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051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研究背景与意义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10515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研究背景、研究意义与国内外现状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52704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161848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618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16002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  相关技术与可行性分析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16002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B/S架构、SpringBoot、Vue、MySQL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207568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16712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167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21488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需求分析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54880" y="2148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业务需求、用户需求、功能需求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262432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71576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715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80160" y="2697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系统设计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54880" y="26974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架构设计、数据库设计、模块设计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1520" y="317296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26440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80160" y="32461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754880" y="3246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用户功能与管理员功能实现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372160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381304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3813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80160" y="379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06  系统测试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754880" y="37947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测试环境、方法与测试结论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1520" y="4270248"/>
            <a:ext cx="7680960" cy="9144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37" name="Shape 35"/>
          <p:cNvSpPr/>
          <p:nvPr/>
        </p:nvSpPr>
        <p:spPr>
          <a:xfrm>
            <a:off x="731520" y="4361688"/>
            <a:ext cx="384048" cy="384048"/>
          </a:xfrm>
          <a:prstGeom prst="ellipse">
            <a:avLst/>
          </a:prstGeom>
          <a:solidFill>
            <a:srgbClr val="1B7A3D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4361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07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280160" y="4343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07  总结与展望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754880" y="4343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研究成果总结与未来展望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研究背景与意义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05840"/>
            <a:ext cx="1097280" cy="320040"/>
          </a:xfrm>
          <a:prstGeom prst="roundRect">
            <a:avLst>
              <a:gd name="adj" fmla="val 14286"/>
            </a:avLst>
          </a:prstGeom>
          <a:solidFill>
            <a:srgbClr val="1B7A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058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数字经济快速发展与居民消费升级，生鲜行业市场规模持续扩大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生鲜零售面临"三重转型"：从卖货到卖服务、线上线下融合、多元化交易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生鲜商品高时效性、易腐性对供应链敏捷性提出更高要求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971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冷链基础设施不完善、技术应用滞后导致较高损耗率和运营成本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亟需信息化管理系统降低运营成本、提升管理效能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E8F5E9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069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核心目标：构建覆盖生鲜商品全生命周期的信息化管理体系，实现业务流程自动化、规范化与可视化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研究意义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097280"/>
            <a:ext cx="2560320" cy="548640"/>
          </a:xfrm>
          <a:prstGeom prst="roundRect">
            <a:avLst>
              <a:gd name="adj" fmla="val 16667"/>
            </a:avLst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18288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实现业务流程自动化和规范化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实时监控采购、库存、销售环节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自动生成采购计划，减少损耗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83280" y="1097280"/>
            <a:ext cx="2560320" cy="548640"/>
          </a:xfrm>
          <a:prstGeom prst="roundRect">
            <a:avLst>
              <a:gd name="adj" fmla="val 16667"/>
            </a:avLst>
          </a:prstGeom>
          <a:solidFill>
            <a:srgbClr val="1B7A3D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线上平台随时随地购物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6616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及时了解优惠促销信息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3108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商品质量追溯，购买放心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097280"/>
            <a:ext cx="2560320" cy="32918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20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097280"/>
            <a:ext cx="2560320" cy="548640"/>
          </a:xfrm>
          <a:prstGeom prst="roundRect">
            <a:avLst>
              <a:gd name="adj" fmla="val 16667"/>
            </a:avLst>
          </a:prstGeom>
          <a:solidFill>
            <a:srgbClr val="1B7A3D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18288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推动生鲜行业数字化转型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优化供应链，提升运营效率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31089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● 积累数据为决策提供支撑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国内外研究现状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F0FF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51560"/>
            <a:ext cx="3840480" cy="41148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51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国外研究现状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SpringBoot框架简化Java企业级应用开发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模块化设计提升超市运营数据管理效率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优化数据存储结构与查询算法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不足：面向国外大型连锁零售，本土化适配不足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051560"/>
            <a:ext cx="3840480" cy="411480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051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国内研究现状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60020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Java与SpringBoot技术体系成熟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通用超市管理系统研究较成熟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生鲜专项系统开始关注品类特性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不足：功能完整性、数据分析能力有限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  本系统创新点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0515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51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0515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前后端分离架构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508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采用SpringBoot+Vue前后端分离架构与B/S模式，兼顾开发效率、系统稳定性与用户交互体验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0116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20116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生鲜专项功能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4688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深度贴合生鲜业务特性，强化库存预警、新鲜度监控、临期提醒、损耗管控等专项功能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29718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数据可视化分析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34290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集成Echarts数据可视化模块，实现销售、库存、用户行为多维度分析，支撑管理决策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7A3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39319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完整业务闭环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4389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功能覆盖用户购物、订单支付、优惠券管理与管理员全流程管理，符合国内中小型生鲜超市需求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  相关技术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97280"/>
            <a:ext cx="1965960" cy="73152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1920240"/>
            <a:ext cx="1234440" cy="1828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浏览器/服务器模式，用户无需安装客户端，跨平台访问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06040" y="1097280"/>
            <a:ext cx="1965960" cy="73152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14" name="Text 12"/>
          <p:cNvSpPr/>
          <p:nvPr/>
        </p:nvSpPr>
        <p:spPr>
          <a:xfrm>
            <a:off x="260604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7A3D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971800" y="1920240"/>
            <a:ext cx="1234440" cy="18288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自动配置、起步依赖，简化Java企业级应用开发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1097280"/>
            <a:ext cx="1965960" cy="73152"/>
          </a:xfrm>
          <a:prstGeom prst="rect">
            <a:avLst/>
          </a:prstGeom>
          <a:solidFill>
            <a:srgbClr val="42B883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B883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120640" y="1920240"/>
            <a:ext cx="1234440" cy="18288"/>
          </a:xfrm>
          <a:prstGeom prst="rect">
            <a:avLst/>
          </a:prstGeom>
          <a:solidFill>
            <a:srgbClr val="42B883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渐进式前端框架，数据驱动、组件化，高效构建交互界面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03720" y="1097280"/>
            <a:ext cx="1965960" cy="34747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03720" y="1097280"/>
            <a:ext cx="1965960" cy="73152"/>
          </a:xfrm>
          <a:prstGeom prst="rect">
            <a:avLst/>
          </a:prstGeom>
          <a:solidFill>
            <a:srgbClr val="F29111"/>
          </a:solidFill>
          <a:ln/>
        </p:spPr>
      </p:sp>
      <p:sp>
        <p:nvSpPr>
          <p:cNvPr id="24" name="Text 22"/>
          <p:cNvSpPr/>
          <p:nvPr/>
        </p:nvSpPr>
        <p:spPr>
          <a:xfrm>
            <a:off x="6903720" y="137160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9111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69480" y="1920240"/>
            <a:ext cx="1234440" cy="18288"/>
          </a:xfrm>
          <a:prstGeom prst="rect">
            <a:avLst/>
          </a:prstGeom>
          <a:solidFill>
            <a:srgbClr val="F29111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2103120"/>
            <a:ext cx="16916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开源关系型数据库，高效稳定，支持高并发数据存取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02  可行性分析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51560"/>
            <a:ext cx="2697480" cy="457200"/>
          </a:xfrm>
          <a:prstGeom prst="rect">
            <a:avLst>
              <a:gd name="adj" fmla="val 16000"/>
            </a:avLst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051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SpringBoot自动配置提升开发效率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803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MySQL高效可靠，社区支持完善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4747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B/S架构降低用户使用门槛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0515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1051560"/>
            <a:ext cx="2697480" cy="457200"/>
          </a:xfrm>
          <a:prstGeom prst="rect">
            <a:avLst>
              <a:gd name="adj" fmla="val 16000"/>
            </a:avLst>
          </a:prstGeom>
          <a:solidFill>
            <a:srgbClr val="1B7A3D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051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2044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Java、SpringBoot、MySQL均为开源技术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2044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大幅降低开发成本和授权费用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20440" y="28803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丰富的社区资源降低学习成本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520440" y="34747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模块化设计降低维护开销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17920" y="1051560"/>
            <a:ext cx="2697480" cy="356616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051560"/>
            <a:ext cx="2697480" cy="457200"/>
          </a:xfrm>
          <a:prstGeom prst="rect">
            <a:avLst>
              <a:gd name="adj" fmla="val 16000"/>
            </a:avLst>
          </a:prstGeom>
          <a:solidFill>
            <a:srgbClr val="1B7A3D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051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B/S架构，浏览器即可访问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0" y="228600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操作直观明了，学习成本低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0" y="288036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数据校验和自动填充辅助功能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0" y="34747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跨平台兼容，多浏览器支持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需求分析 — 数据流图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1100" dirty="0"/>
          </a:p>
        </p:txBody>
      </p:sp>
      <p:pic>
        <p:nvPicPr>
          <p:cNvPr id="8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4023360" cy="12801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260604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说明：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0292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顶层数据流图展示系统与外部实体的交互关系。系统核心外部实体为管理员与普通用户，清晰呈现两类角色与系统间的核心信息交互，包括商品管理、订单处理、用户认证等数据流向。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663440" y="914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1100" dirty="0"/>
          </a:p>
        </p:txBody>
      </p:sp>
      <p:pic>
        <p:nvPicPr>
          <p:cNvPr id="13" name="Image 1" descr="/workspace/assets/fig3_2_dataflow_laye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34440"/>
            <a:ext cx="4206240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72000" y="2606040"/>
            <a:ext cx="4206240" cy="1920240"/>
          </a:xfrm>
          <a:prstGeom prst="roundRect">
            <a:avLst>
              <a:gd name="adj" fmla="val 3810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709160" y="2697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8C0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说明：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709160" y="297180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一层数据流图将系统拆分为五大核心处理过程：用户权限管理、商品库存管理、订单交易管理、营销公告管理、系统数据管理，明确了各过程间的数据流转关系与数据存储节点。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需求分析 — 用例图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1100" dirty="0"/>
          </a:p>
        </p:txBody>
      </p:sp>
      <p:pic>
        <p:nvPicPr>
          <p:cNvPr id="8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3474720" cy="2377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70332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74904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管理员功能：商品管理、库存监控、订单处理、公告发布、投诉建议处理、日志查看、数据统计分析等全流程管控功能。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663440" y="914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1100" dirty="0"/>
          </a:p>
        </p:txBody>
      </p:sp>
      <p:pic>
        <p:nvPicPr>
          <p:cNvPr id="12" name="Image 1" descr="/workspace/assets/fig3_4_user_use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347472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0" y="370332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709160" y="374904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用户功能：商品浏览、在线购买、购物车管理、订单提交、优惠券领取、个人中心管理、投诉建议提交等购物服务功能。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03  功能需求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5156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商品与库存管理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5544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商品分类管理、商品信息全生命周期管理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193852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实时库存监控、库存预警机制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23225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库存出入库明细记录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46320" y="105156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0" y="105156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15" name="Text 13"/>
          <p:cNvSpPr/>
          <p:nvPr/>
        </p:nvSpPr>
        <p:spPr>
          <a:xfrm>
            <a:off x="507492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订单与销售管理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155448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完整线上销售流程：下单、支付、跟踪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74920" y="193852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雪花算法生成唯一订单号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74920" y="23225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多种支付方式、退款换货审核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7180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会员与促销管理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3474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会员注册、等级、积分体系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385876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VIP会员创建与升级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85800" y="42428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优惠券管理与积分兑换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297180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46320" y="2971800"/>
            <a:ext cx="73152" cy="17373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数据可视化分析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74920" y="347472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Echarts图表库可视化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74920" y="385876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销售、库存、用户行为多维分析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74920" y="42428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生成统计报表支撑决策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系统设计 — 总体架构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1100" dirty="0"/>
          </a:p>
        </p:txBody>
      </p:sp>
      <p:pic>
        <p:nvPicPr>
          <p:cNvPr id="8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194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56616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架构说明：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393192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采用SpringBoot+Vue前后端分离的分层架构，整体分为表现层（Vue实现用户交互）、业务逻辑层（SpringBoot处理核心业务）、数据访问层（MyBatis与MySQL交互）三层结构。各层通过接口通信，降低耦合度，满足生鲜超市多角色、全流程的管理需求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数据库设计 — E-R图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1100" dirty="0"/>
          </a:p>
        </p:txBody>
      </p:sp>
      <p:pic>
        <p:nvPicPr>
          <p:cNvPr id="8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5029200" cy="3108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577840" y="1051560"/>
            <a:ext cx="3200400" cy="3474720"/>
          </a:xfrm>
          <a:prstGeom prst="roundRect">
            <a:avLst>
              <a:gd name="adj" fmla="val 2286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15000" y="1143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实体关系说明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715000" y="150876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管理员实体：存储管理员信息，管理优惠券、商品、公告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用户实体：存储用户资料，可领取优惠券、查看公告、下单购买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商品信息实体：存储商品详情，用户购买产生订单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订单实体：存储交易记录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优惠券实体：存储优惠信息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公告信息实体：存储通知内容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数据库设计 — 核心数据表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47472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数据表名称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主要字段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后台管理用户表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admin_id, username, password, real_name, gender, phone, avatar, email, role, create_time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商品信息表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product_id, product_name, category_id, brand, unit, original_price, stock, view_count, status, stock_warning, member_price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订单表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order_id, order_no, user_id, product_id, quantity, price, total_price, status, address, phone, receiver, logistics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用户表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user_id, username, password, role, nickname, avatar, phone, email, balance, create_time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优惠券表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coupon_id, name, type, min_spend, expire_date, points_required, stock, coupon_amount, discount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45C2E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公告信息表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C3E5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announcement_id, create_time, title, summary, image, content</a:t>
                      </a:r>
                      <a:endParaRPr lang="en-US" sz="8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系统设计 — 类图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图4-10 生鲜超市综合管理平台类图</a:t>
            </a:r>
            <a:endParaRPr lang="en-US" sz="1100" dirty="0"/>
          </a:p>
        </p:txBody>
      </p:sp>
      <p:pic>
        <p:nvPicPr>
          <p:cNvPr id="8" name="Image 0" descr="/workspace/assets/fig4_10_class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5303520" cy="3291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52160" y="1051560"/>
            <a:ext cx="2926080" cy="3474720"/>
          </a:xfrm>
          <a:prstGeom prst="roundRect">
            <a:avLst>
              <a:gd name="adj" fmla="val 2500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143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类图结构说明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89320" y="1508760"/>
            <a:ext cx="265176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参与者类：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普通用户：userId, userName, phone, address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系统管理员：adminId, adminName, role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控制层：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用户权限管理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订单交易管理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商品库存管理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系统数据管理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营销公告管理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实体层：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用户信息表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订单信息表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商品信息表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公告信息表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优惠信息表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04  功能模块设计 — 核心时序图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82880" y="9144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权限管理时序图</a:t>
            </a:r>
            <a:endParaRPr lang="en-US" sz="900" dirty="0"/>
          </a:p>
        </p:txBody>
      </p:sp>
      <p:pic>
        <p:nvPicPr>
          <p:cNvPr id="8" name="Image 0" descr="/workspace/assets/fig4_12_auth_sequ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143000"/>
            <a:ext cx="2651760" cy="2194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采用Sa-Token框架实现统一登录认证，通过角色字段区分管理员与普通用户权限。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063240" y="9144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订单交易支付时序图</a:t>
            </a:r>
            <a:endParaRPr lang="en-US" sz="900" dirty="0"/>
          </a:p>
        </p:txBody>
      </p:sp>
      <p:pic>
        <p:nvPicPr>
          <p:cNvPr id="11" name="Image 1" descr="/workspace/assets/fig4_13_order_sequ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143000"/>
            <a:ext cx="2743200" cy="21945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017520" y="3383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订单创建时联动库存扣减、优惠券核销与积分累积，支持退款换货审核工作流。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6080760" y="9144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商品管理时序图</a:t>
            </a:r>
            <a:endParaRPr lang="en-US" sz="900" dirty="0"/>
          </a:p>
        </p:txBody>
      </p:sp>
      <p:pic>
        <p:nvPicPr>
          <p:cNvPr id="14" name="Image 2" descr="/workspace/assets/fig4_14_product_sequ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2743200" cy="21945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035040" y="3383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采用主表+明细双层架构，实时监控库存，支持库存预警阈值配置与出入库流水记录。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594360" y="41605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时序图清晰展示了系统各模块间的交互流程，为后续代码实现提供了面向对象的设计依据。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用户功能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用户登录页面</a:t>
            </a:r>
            <a:endParaRPr lang="en-US" sz="1000" dirty="0"/>
          </a:p>
        </p:txBody>
      </p:sp>
      <p:pic>
        <p:nvPicPr>
          <p:cNvPr id="8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3840480" cy="2194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5204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用户登录功能：支持账号密码登录，系统通过后台验证用户身份，验证通过后生成会话令牌，跳转至系统前台首页。同时支持用户注册功能。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生鲜商品购买页面</a:t>
            </a:r>
            <a:endParaRPr lang="en-US" sz="1000" dirty="0"/>
          </a:p>
        </p:txBody>
      </p:sp>
      <p:pic>
        <p:nvPicPr>
          <p:cNvPr id="12" name="Image 1" descr="/workspace/assets/fig5_3_product_purch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34440"/>
            <a:ext cx="411480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0" y="352044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6344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商品购买功能：用户可浏览商品列表，查看商品详情，选择商品加入购物车或直接购买，系统自动跳转至支付页面完成下单流程。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用户功能（续）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优惠券领取页面</a:t>
            </a:r>
            <a:endParaRPr lang="en-US" sz="1000" dirty="0"/>
          </a:p>
        </p:txBody>
      </p:sp>
      <p:pic>
        <p:nvPicPr>
          <p:cNvPr id="8" name="Image 0" descr="/workspace/assets/fig5_5_coup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3840480" cy="2194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5204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优惠券功能：用户可浏览可用优惠券，查看优惠详情，使用积分兑换或直接领取优惠券，领取后可在购物时使用获得折扣优惠。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个人中心页面</a:t>
            </a:r>
            <a:endParaRPr lang="en-US" sz="1000" dirty="0"/>
          </a:p>
        </p:txBody>
      </p:sp>
      <p:pic>
        <p:nvPicPr>
          <p:cNvPr id="12" name="Image 1" descr="/workspace/assets/fig5_7_user_cen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34440"/>
            <a:ext cx="411480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0" y="352044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6344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个人中心功能：用户可管理个人信息、修改密码、查看订单记录、管理收货地址、查看积分余额等，实现个性化账户管理。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管理员功能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后台登录页面</a:t>
            </a:r>
            <a:endParaRPr lang="en-US" sz="1000" dirty="0"/>
          </a:p>
        </p:txBody>
      </p:sp>
      <p:pic>
        <p:nvPicPr>
          <p:cNvPr id="8" name="Image 0" descr="/workspace/assets/fig5_8_admin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3840480" cy="2194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5204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管理员登录：管理员输入账号密码，系统验证身份后生成会话标识，跳转至后台管理首页，可访问全部管理功能模块。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用户管理页面</a:t>
            </a:r>
            <a:endParaRPr lang="en-US" sz="1000" dirty="0"/>
          </a:p>
        </p:txBody>
      </p:sp>
      <p:pic>
        <p:nvPicPr>
          <p:cNvPr id="12" name="Image 1" descr="/workspace/assets/fig5_10_user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34440"/>
            <a:ext cx="411480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0" y="352044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6344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用户管理功能：管理员可查看所有注册用户信息，支持用户信息的增删改查操作，管理用户账号状态，保障系统访问安全。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管理员功能（续）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商品信息管理页面</a:t>
            </a:r>
            <a:endParaRPr lang="en-US" sz="1000" dirty="0"/>
          </a:p>
        </p:txBody>
      </p:sp>
      <p:pic>
        <p:nvPicPr>
          <p:cNvPr id="8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3840480" cy="2194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5204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商品管理功能：管理员可新增、编辑、删除商品信息，设置商品价格、库存、预警值，管理商品上下架状态，查看商品浏览量统计。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公告信息管理页面</a:t>
            </a:r>
            <a:endParaRPr lang="en-US" sz="1000" dirty="0"/>
          </a:p>
        </p:txBody>
      </p:sp>
      <p:pic>
        <p:nvPicPr>
          <p:cNvPr id="12" name="Image 1" descr="/workspace/assets/fig5_13_news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34440"/>
            <a:ext cx="411480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0" y="352044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6344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公告管理功能：管理员可发布、编辑、删除公告信息，公告内容支持富文本编辑，发布后用户端可实时查看最新公告动态。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05  系统实现 — 管理员功能（续）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优惠券管理页面</a:t>
            </a:r>
            <a:endParaRPr lang="en-US" sz="1000" dirty="0"/>
          </a:p>
        </p:txBody>
      </p:sp>
      <p:pic>
        <p:nvPicPr>
          <p:cNvPr id="8" name="Image 0" descr="/workspace/assets/fig5_15_coupon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3840480" cy="21945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52044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优惠券管理功能：管理员可创建满减券、折扣券等多种类型优惠券，设置使用门槛、过期时间、所需积分，管理优惠券库存。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系统管理页面</a:t>
            </a:r>
            <a:endParaRPr lang="en-US" sz="1000" dirty="0"/>
          </a:p>
        </p:txBody>
      </p:sp>
      <p:pic>
        <p:nvPicPr>
          <p:cNvPr id="12" name="Image 1" descr="/workspace/assets/fig5_17_system_man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34440"/>
            <a:ext cx="411480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0" y="3520440"/>
            <a:ext cx="4114800" cy="1005840"/>
          </a:xfrm>
          <a:prstGeom prst="roundRect">
            <a:avLst>
              <a:gd name="adj" fmla="val 5455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6344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系统管理功能：管理员可管理轮播图、系统简介等基础信息，配置系统参数，查看操作日志，保障系统安全稳定运行。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06  系统测试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3840480" cy="256032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项目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配置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操作系统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CentOS 7.9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处理器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Intel Core i5-12400F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后端框架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SpringBoot 2.7.5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数据库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MySQL 8.0 + Redis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前端框架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Vue.js + Node.js 16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测试方法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黑盒测试为主、白盒测试为辅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测试结论</a:t>
            </a:r>
            <a:endParaRPr lang="en-US" sz="12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234440"/>
          <a:ext cx="41148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测试模块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结果</a:t>
                      </a:r>
                      <a:endParaRPr lang="en-US" sz="10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7A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用户登录注册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商品信息管理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订单与购买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库存预警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公告管理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投诉建议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imSun" pitchFamily="34" charset="0"/>
                          <a:ea typeface="SimSun" pitchFamily="34" charset="-122"/>
                          <a:cs typeface="SimSun" pitchFamily="34" charset="-120"/>
                        </a:rPr>
                        <a:t>系统日志</a:t>
                      </a:r>
                      <a:endParaRPr lang="en-US" sz="900" dirty="0">
                        <a:latin typeface="SimSun" charset="0"/>
                        <a:ea typeface="SimSun" charset="0"/>
                        <a:cs typeface="SimSun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  <a:latin typeface="SimHei" pitchFamily="34" charset="0"/>
                          <a:ea typeface="SimHei" pitchFamily="34" charset="-122"/>
                          <a:cs typeface="SimHei" pitchFamily="34" charset="-120"/>
                        </a:rPr>
                        <a:t>✓ 通过</a:t>
                      </a:r>
                      <a:endParaRPr lang="en-US" sz="900" dirty="0">
                        <a:latin typeface="SimHei" charset="0"/>
                        <a:ea typeface="SimHei" charset="0"/>
                        <a:cs typeface="Sim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5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E8F5E9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45C2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结论：系统功能完整、性能稳定、安全可用、业务流程顺畅，完全符合生鲜超市信息化管理需求，达到预期设计目标。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07  总结与展望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48508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基于SpringBoot的生鲜超市综合管理系统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046720" y="4850892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7F8C8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0FFF0"/>
          </a:solidFill>
          <a:ln w="12700">
            <a:solidFill>
              <a:srgbClr val="1B7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51560"/>
            <a:ext cx="4023360" cy="411480"/>
          </a:xfrm>
          <a:prstGeom prst="rect">
            <a:avLst/>
          </a:prstGeom>
          <a:solidFill>
            <a:srgbClr val="1B7A3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用户端：商品浏览、在线购买、优惠券、个人中心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管理端：商品/订单/库存/用户/公告/优惠券管理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数据可视化：Echarts多维数据分析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系统运行稳定，功能体系完善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满足中小型生鲜超市信息化建设需求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FF8F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4023360" cy="411480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0020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大数据分析实现个性化商品推荐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引入AI智能客服，实时解答用户疑问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增加供应商管理模块，优化供应链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开发移动端APP，支持随时随地购物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加强用户行为分析与市场趋势预测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0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适应不断变化的市场需求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3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spc="300" kern="0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0" y="2468880"/>
            <a:ext cx="2743200" cy="27432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A8D5B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</a:t>
            </a:r>
            <a:endParaRPr lang="en-US" sz="16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A8D5B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指导教师：王丽 / 夏威</a:t>
            </a:r>
            <a:endParaRPr lang="en-US" sz="16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600" dirty="0">
                <a:solidFill>
                  <a:srgbClr val="A8D5BA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F8C0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2026-05-21T10:46:35Z</dcterms:created>
  <dcterms:modified xsi:type="dcterms:W3CDTF">2026-05-21T10:46:35Z</dcterms:modified>
</cp:coreProperties>
</file>