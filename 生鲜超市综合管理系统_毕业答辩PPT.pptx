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3657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1097280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1371600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457200" y="2651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457200" y="3246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的设计与实现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52A45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二级学院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65176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专业班级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265176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学生姓名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4632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04088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04088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772400" y="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7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目录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3716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887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188720" y="379476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8872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3035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34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7" name="Text 24"/>
          <p:cNvSpPr/>
          <p:nvPr/>
        </p:nvSpPr>
        <p:spPr>
          <a:xfrm>
            <a:off x="46634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3035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3035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30" name="Shape 27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1" name="Text 28"/>
          <p:cNvSpPr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3035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📈 市场规模扩大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数字经济与消费升级，生鲜行业市场规模持续扩大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🔄 三重转型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从卖货向卖服务转型、线上线下融合、多元化交易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⚡ 供应链挑战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生鲜高时效性、易腐性对供应链敏捷性提出更高要求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📉 运营痛点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冷链不完善、技术滞后导致高损耗率和运营成本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实现业务流程自动化和规范化，实时监控采购、库存、销售环节，自动生成采购计划，减少损耗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线上平台随时随地购物，及时了解优惠促销信息，商品质量追溯，购买放心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2940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推动生鲜行业数字化转型，优化供应链，提升运营效率，积累数据为决策提供支撑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057400" cy="7315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C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97280" y="2468880"/>
            <a:ext cx="960120" cy="2743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浏览器/服务器模式，跨平台访问，降低用户使用门槛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45920"/>
            <a:ext cx="2057400" cy="7315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A16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2468880"/>
            <a:ext cx="960120" cy="274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645920"/>
            <a:ext cx="2057400" cy="7315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B2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0" y="2468880"/>
            <a:ext cx="960120" cy="2743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渐进式前端框架，数据驱动、组件化设计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32320" y="1645920"/>
            <a:ext cx="2057400" cy="7315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AD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80960" y="2468880"/>
            <a:ext cx="960120" cy="274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Text 23"/>
          <p:cNvSpPr/>
          <p:nvPr/>
        </p:nvSpPr>
        <p:spPr>
          <a:xfrm>
            <a:off x="726948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可行性分析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B/S架构降低门槛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技术栈开源免费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降低开发授权成本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丰富社区资源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模块化降低维护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浏览器即可访问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操作直观简单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数据校验辅助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跨平台多浏览器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数据流图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1100" dirty="0"/>
          </a:p>
        </p:txBody>
      </p:sp>
      <p:pic>
        <p:nvPicPr>
          <p:cNvPr id="6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114800" cy="1371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78892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880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320040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顶层数据流图展示系统与外部实体的交互关系。系统核心外部实体为管理员与普通用户，清晰呈现两类角色与系统间的核心信息交互，包括商品管理、订单处理、用户认证等数据流向。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84632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1100" dirty="0"/>
          </a:p>
        </p:txBody>
      </p:sp>
      <p:pic>
        <p:nvPicPr>
          <p:cNvPr id="11" name="Image 1" descr="/workspace/assets/fig3_2_dataflow_laye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4114800" cy="137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78892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3" name="Text 9"/>
          <p:cNvSpPr/>
          <p:nvPr/>
        </p:nvSpPr>
        <p:spPr>
          <a:xfrm>
            <a:off x="4937760" y="2880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37760" y="320040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一层数据流图将系统拆分为五大核心处理过程：用户权限管理、商品库存管理、订单交易管理、营销公告管理、系统数据管理，明确了各过程间的数据流转关系。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用例图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1100" dirty="0"/>
          </a:p>
        </p:txBody>
      </p:sp>
      <p:pic>
        <p:nvPicPr>
          <p:cNvPr id="6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114800" cy="2560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3977640"/>
            <a:ext cx="4114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40690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管理员功能：商品管理、库存监控、订单处理、公告发布、投诉建议处理、日志查看、数据统计分析等全流程管控功能。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84632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1100" dirty="0"/>
          </a:p>
        </p:txBody>
      </p:sp>
      <p:pic>
        <p:nvPicPr>
          <p:cNvPr id="10" name="Image 1" descr="/workspace/assets/fig3_4_user_use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4114800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54880" y="3977640"/>
            <a:ext cx="4114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4892040" y="40690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用户功能：商品浏览、在线购买、购物车管理、订单提交、优惠券领取、个人中心管理、投诉建议提交等购物服务功能。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系统总体架构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1100" dirty="0"/>
          </a:p>
        </p:txBody>
      </p:sp>
      <p:pic>
        <p:nvPicPr>
          <p:cNvPr id="6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8229600" cy="2011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34290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520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架构说明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采用SpringBoot+Vue前后端分离的分层架构，整体分为表现层（Vue实现用户交互）、业务逻辑层（SpringBoot处理核心业务）、数据访问层（MyBatis与MySQL交互）三层结构。各层通过接口通信，降低耦合度，满足生鲜超市多角色、全流程的管理需求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数据库E-R图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1100" dirty="0"/>
          </a:p>
        </p:txBody>
      </p:sp>
      <p:pic>
        <p:nvPicPr>
          <p:cNvPr id="6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02920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280160"/>
            <a:ext cx="3108960" cy="32918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0" y="1417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实体关系说明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52160" y="182880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管理员实体：存储管理员信息，管理优惠券、商品、公告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用户实体：存储用户资料，可领取优惠券、查看公告、下单购买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商品信息实体：存储商品详情，用户购买产生订单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订单实体：存储交易记录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优惠券实体：存储优惠信息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公告信息实体：存储通知内容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用户功能展示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</a:t>
            </a:r>
            <a:endParaRPr lang="en-US" sz="1000" dirty="0"/>
          </a:p>
        </p:txBody>
      </p:sp>
      <p:pic>
        <p:nvPicPr>
          <p:cNvPr id="6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2560320" cy="1463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2788920"/>
            <a:ext cx="2560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834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支持账号密码登录，验证通过后生成会话令牌跳转至系统前台。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00400" y="10058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商品购买</a:t>
            </a:r>
            <a:endParaRPr lang="en-US" sz="1000" dirty="0"/>
          </a:p>
        </p:txBody>
      </p:sp>
      <p:pic>
        <p:nvPicPr>
          <p:cNvPr id="10" name="Image 1" descr="/workspace/assets/fig5_3_product_purch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2560320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08960" y="2788920"/>
            <a:ext cx="2560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3200400" y="2834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浏览商品列表，查看详情，加入购物车或直接购买。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943600" y="10058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</a:t>
            </a:r>
            <a:endParaRPr lang="en-US" sz="1000" dirty="0"/>
          </a:p>
        </p:txBody>
      </p:sp>
      <p:pic>
        <p:nvPicPr>
          <p:cNvPr id="14" name="Image 2" descr="/workspace/assets/fig5_5_coup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34440"/>
            <a:ext cx="2560320" cy="14630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852160" y="2788920"/>
            <a:ext cx="2560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5943600" y="2834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浏览可用优惠券，使用积分兑换或直接领取。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457200" y="36576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</a:t>
            </a:r>
            <a:endParaRPr lang="en-US" sz="1000" dirty="0"/>
          </a:p>
        </p:txBody>
      </p:sp>
      <p:pic>
        <p:nvPicPr>
          <p:cNvPr id="18" name="Image 3" descr="/workspace/assets/fig5_7_user_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86200"/>
            <a:ext cx="2560320" cy="10058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200400" y="36576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</a:t>
            </a:r>
            <a:endParaRPr lang="en-US" sz="1000" dirty="0"/>
          </a:p>
        </p:txBody>
      </p:sp>
      <p:pic>
        <p:nvPicPr>
          <p:cNvPr id="20" name="Image 4" descr="/workspace/assets/fig5_8_admin_log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3886200"/>
            <a:ext cx="2560320" cy="10058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943600" y="36576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</a:t>
            </a:r>
            <a:endParaRPr lang="en-US" sz="1000" dirty="0"/>
          </a:p>
        </p:txBody>
      </p:sp>
      <p:pic>
        <p:nvPicPr>
          <p:cNvPr id="22" name="Image 5" descr="/workspace/assets/fig5_10_user_man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3886200"/>
            <a:ext cx="256032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管理员功能展示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商品管理</a:t>
            </a:r>
            <a:endParaRPr lang="en-US" sz="1000" dirty="0"/>
          </a:p>
        </p:txBody>
      </p:sp>
      <p:pic>
        <p:nvPicPr>
          <p:cNvPr id="6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2560320" cy="1463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2788920"/>
            <a:ext cx="2560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834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新增、编辑、删除商品，设置价格、库存、预警值，管理上下架状态。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00400" y="10058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公告管理</a:t>
            </a:r>
            <a:endParaRPr lang="en-US" sz="1000" dirty="0"/>
          </a:p>
        </p:txBody>
      </p:sp>
      <p:pic>
        <p:nvPicPr>
          <p:cNvPr id="10" name="Image 1" descr="/workspace/assets/fig5_13_news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2560320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08960" y="2788920"/>
            <a:ext cx="2560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3200400" y="2834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发布、编辑、删除公告，支持富文本编辑，用户端实时查看。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943600" y="10058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</a:t>
            </a:r>
            <a:endParaRPr lang="en-US" sz="1000" dirty="0"/>
          </a:p>
        </p:txBody>
      </p:sp>
      <p:pic>
        <p:nvPicPr>
          <p:cNvPr id="14" name="Image 2" descr="/workspace/assets/fig5_15_coupon_man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34440"/>
            <a:ext cx="2560320" cy="14630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852160" y="2788920"/>
            <a:ext cx="2560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5943600" y="2834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创建满减券、折扣券，设置使用门槛、过期时间、所需积分。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457200" y="36576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</a:t>
            </a:r>
            <a:endParaRPr lang="en-US" sz="1000" dirty="0"/>
          </a:p>
        </p:txBody>
      </p:sp>
      <p:pic>
        <p:nvPicPr>
          <p:cNvPr id="18" name="Image 3" descr="/workspace/assets/fig5_17_system_man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86200"/>
            <a:ext cx="256032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操作系统: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CentOS 7.9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处理器: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Intel Core i5-12400F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后端框架: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651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SpringBoot 2.7.5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31089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MySQL 8.0 + Redis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前端框架: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5661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Vue.js + Node.js 16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测试方法: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4023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黑盒测试为主、白盒测试为辅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09728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用户登录注册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商品信息管理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订单与购买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公告管理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70916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7548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结论：系统功能完整、性能稳定、安全可用、业务流程顺畅，完全符合生鲜超市信息化管理需求，达到预期设计目标。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用户端：商品浏览、在线购买、优惠券、个人中心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管理端：商品/订单/库存/用户/公告/优惠券管理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数据可视化：Echarts多维数据分析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系统运行稳定，功能体系完善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满足中小型生鲜超市信息化建设需求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大数据分析实现个性化商品推荐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引入AI智能客服，实时解答用户疑问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增加供应商管理模块，优化供应链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开发移动端APP，支持随时随地购物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加强用户行为分析与市场趋势预测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适应不断变化的市场需求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228600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    |    指导教师：王丽 / 夏威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914400" y="3474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2026-05-21T11:23:18Z</dcterms:created>
  <dcterms:modified xsi:type="dcterms:W3CDTF">2026-05-21T11:23:18Z</dcterms:modified>
</cp:coreProperties>
</file>