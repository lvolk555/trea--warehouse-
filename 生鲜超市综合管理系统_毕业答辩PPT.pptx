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90CDF4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西安思源学院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3B3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XI'AN SIYUAN UNIVERSITY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828800" cy="18288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8872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本科毕业论文（设计）答辩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18288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基于SpringBoot的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57200" y="2377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生鲜超市综合管理系统的设计与实现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0" y="3657600"/>
            <a:ext cx="9144000" cy="1485900"/>
          </a:xfrm>
          <a:prstGeom prst="rect">
            <a:avLst/>
          </a:prstGeom>
          <a:solidFill>
            <a:srgbClr val="0F27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7947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90CDF4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二级学院: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371600" y="3794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电子信息工程学院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291840" y="37947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90CDF4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专业班级: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06240" y="3794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计算机科学与技术 22级计科（本）03班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26480" y="37947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90CDF4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学生姓名: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040880" y="3794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李磊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43891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90CDF4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指导教师: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371600" y="438912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王丽 / 夏威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291840" y="43891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90CDF4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完成日期: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206240" y="438912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2026年5月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A365D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目录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1371600" cy="27432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371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D69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005840" y="13716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A365D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研究背景与意义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05840" y="1691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研究背景、研究意义与国内外现状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2240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D69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005840" y="22402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A365D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相关技术与可行性分析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05840" y="2560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B/S架构、SpringBoot、Vue、MySQL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57200" y="3108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D69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005840" y="31089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A365D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需求分析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05840" y="3429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业务需求、用户需求、功能需求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3977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D69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005840" y="39776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A365D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系统设计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05840" y="42976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架构设计、数据库设计、模块设计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846320" y="1371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D69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5394960" y="13716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A365D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系统实现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394960" y="1691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用户功能与管理员功能实现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46320" y="2240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D69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5394960" y="22402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A365D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系统测试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394960" y="2560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测试环境、方法与测试结论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846320" y="3108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D69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5394960" y="31089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A365D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总结与展望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394960" y="3429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研究成果总结与未来展望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63B3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1371600" cy="10972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200" b="1" dirty="0">
                <a:solidFill>
                  <a:srgbClr val="D69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7200" dirty="0"/>
          </a:p>
        </p:txBody>
      </p:sp>
      <p:sp>
        <p:nvSpPr>
          <p:cNvPr id="5" name="Shape 3"/>
          <p:cNvSpPr/>
          <p:nvPr/>
        </p:nvSpPr>
        <p:spPr>
          <a:xfrm>
            <a:off x="457200" y="3017520"/>
            <a:ext cx="1828800" cy="27432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32004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研究背景与意义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3749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0CDF4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研究背景、研究意义与国内外现状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A365D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研究背景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BACKGROUND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097280" cy="27432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280160"/>
            <a:ext cx="4114800" cy="155448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54864" cy="155448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4173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A365D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市场规模扩大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783080"/>
            <a:ext cx="3749040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2D3748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数字经济快速发展与居民消费升级，生鲜行业作为民生刚需领域，市场规模持续扩大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46320" y="1280160"/>
            <a:ext cx="4114800" cy="155448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6320" y="1280160"/>
            <a:ext cx="54864" cy="155448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0" y="14173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A365D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三重转型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0" y="1783080"/>
            <a:ext cx="3749040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2D3748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从"卖货"向"卖服务"转型、线上线下融合、以"服务为核心"的多元化交易转型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4114800" cy="155448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55448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1546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A365D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供应链挑战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3749040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2D3748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生鲜高时效性、易腐性对供应链敏捷性、数据高效管理提出更高要求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846320" y="3017520"/>
            <a:ext cx="4114800" cy="155448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46320" y="3017520"/>
            <a:ext cx="54864" cy="155448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0" y="31546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A365D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运营痛点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029200" y="3520440"/>
            <a:ext cx="3749040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2D3748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冷链基础设施不完善、技术应用滞后导致较高损耗率和运营成本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A365D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研究意义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SIGNIFICANCE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097280" cy="27432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280160"/>
            <a:ext cx="2697480" cy="3291840"/>
          </a:xfrm>
          <a:prstGeom prst="roundRect">
            <a:avLst>
              <a:gd name="adj" fmla="val 169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2697480" cy="73152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8" name="Shape 6"/>
          <p:cNvSpPr/>
          <p:nvPr/>
        </p:nvSpPr>
        <p:spPr>
          <a:xfrm>
            <a:off x="1554480" y="1645920"/>
            <a:ext cx="502920" cy="502920"/>
          </a:xfrm>
          <a:prstGeom prst="ellipse">
            <a:avLst/>
          </a:prstGeom>
          <a:solidFill>
            <a:srgbClr val="D69E2E"/>
          </a:solidFill>
          <a:ln/>
        </p:spPr>
      </p:sp>
      <p:sp>
        <p:nvSpPr>
          <p:cNvPr id="9" name="Text 7"/>
          <p:cNvSpPr/>
          <p:nvPr/>
        </p:nvSpPr>
        <p:spPr>
          <a:xfrm>
            <a:off x="1554480" y="1645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57200" y="228600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365D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运营管理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0080" y="2743200"/>
            <a:ext cx="2331720" cy="1645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2D3748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实现业务流程自动化和规范化，实时监控采购、库存、销售环节，自动生成采购计划，减少损耗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37560" y="1280160"/>
            <a:ext cx="2697480" cy="3291840"/>
          </a:xfrm>
          <a:prstGeom prst="roundRect">
            <a:avLst>
              <a:gd name="adj" fmla="val 169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37560" y="1280160"/>
            <a:ext cx="2697480" cy="73152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14" name="Shape 12"/>
          <p:cNvSpPr/>
          <p:nvPr/>
        </p:nvSpPr>
        <p:spPr>
          <a:xfrm>
            <a:off x="4434840" y="1645920"/>
            <a:ext cx="502920" cy="502920"/>
          </a:xfrm>
          <a:prstGeom prst="ellipse">
            <a:avLst/>
          </a:prstGeom>
          <a:solidFill>
            <a:srgbClr val="D69E2E"/>
          </a:solidFill>
          <a:ln/>
        </p:spPr>
      </p:sp>
      <p:sp>
        <p:nvSpPr>
          <p:cNvPr id="15" name="Text 13"/>
          <p:cNvSpPr/>
          <p:nvPr/>
        </p:nvSpPr>
        <p:spPr>
          <a:xfrm>
            <a:off x="4434840" y="1645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3337560" y="228600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365D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消费者体验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520440" y="2743200"/>
            <a:ext cx="2331720" cy="1645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2D3748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线上平台随时随地购物，及时了解优惠促销信息，商品质量追溯，购买放心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217920" y="1280160"/>
            <a:ext cx="2697480" cy="3291840"/>
          </a:xfrm>
          <a:prstGeom prst="roundRect">
            <a:avLst>
              <a:gd name="adj" fmla="val 169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17920" y="1280160"/>
            <a:ext cx="2697480" cy="73152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20" name="Shape 18"/>
          <p:cNvSpPr/>
          <p:nvPr/>
        </p:nvSpPr>
        <p:spPr>
          <a:xfrm>
            <a:off x="7315200" y="1645920"/>
            <a:ext cx="502920" cy="502920"/>
          </a:xfrm>
          <a:prstGeom prst="ellipse">
            <a:avLst/>
          </a:prstGeom>
          <a:solidFill>
            <a:srgbClr val="D69E2E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0" y="1645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217920" y="228600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365D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行业发展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400800" y="2743200"/>
            <a:ext cx="2331720" cy="1645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2D3748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推动生鲜行业数字化转型，优化供应链，提升运营效率，积累数据为决策提供支撑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63B3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1371600" cy="10972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200" b="1" dirty="0">
                <a:solidFill>
                  <a:srgbClr val="D69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7200" dirty="0"/>
          </a:p>
        </p:txBody>
      </p:sp>
      <p:sp>
        <p:nvSpPr>
          <p:cNvPr id="5" name="Shape 3"/>
          <p:cNvSpPr/>
          <p:nvPr/>
        </p:nvSpPr>
        <p:spPr>
          <a:xfrm>
            <a:off x="457200" y="3017520"/>
            <a:ext cx="1828800" cy="27432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32004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相关技术与可行性分析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3749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0CDF4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B/S架构、SpringBoot、Vue、MySQL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A365D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相关技术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STACK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097280" cy="27432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280160"/>
            <a:ext cx="2011680" cy="329184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2011680" cy="54864"/>
          </a:xfrm>
          <a:prstGeom prst="rect">
            <a:avLst/>
          </a:prstGeom>
          <a:solidFill>
            <a:srgbClr val="3182CE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5544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182C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B/S架构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05840" y="1965960"/>
            <a:ext cx="914400" cy="18288"/>
          </a:xfrm>
          <a:prstGeom prst="rect">
            <a:avLst/>
          </a:prstGeom>
          <a:solidFill>
            <a:srgbClr val="3182CE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2194560"/>
            <a:ext cx="1737360" cy="2194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2D3748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浏览器/服务器模式，用户无需安装客户端，跨平台访问，降低用户使用门槛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606040" y="1280160"/>
            <a:ext cx="2011680" cy="329184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06040" y="1280160"/>
            <a:ext cx="2011680" cy="54864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13" name="Text 11"/>
          <p:cNvSpPr/>
          <p:nvPr/>
        </p:nvSpPr>
        <p:spPr>
          <a:xfrm>
            <a:off x="2606040" y="15544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8A169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SpringBoot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154680" y="1965960"/>
            <a:ext cx="914400" cy="18288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0" y="2194560"/>
            <a:ext cx="1737360" cy="2194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2D3748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自动配置、起步依赖机制，简化Java企业级应用开发，提升开发效率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754880" y="1280160"/>
            <a:ext cx="2011680" cy="329184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54880" y="1280160"/>
            <a:ext cx="2011680" cy="54864"/>
          </a:xfrm>
          <a:prstGeom prst="rect">
            <a:avLst/>
          </a:prstGeom>
          <a:solidFill>
            <a:srgbClr val="DD6B20"/>
          </a:solidFill>
          <a:ln/>
        </p:spPr>
      </p:sp>
      <p:sp>
        <p:nvSpPr>
          <p:cNvPr id="18" name="Text 16"/>
          <p:cNvSpPr/>
          <p:nvPr/>
        </p:nvSpPr>
        <p:spPr>
          <a:xfrm>
            <a:off x="4754880" y="15544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6B2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Vue.js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303520" y="1965960"/>
            <a:ext cx="914400" cy="18288"/>
          </a:xfrm>
          <a:prstGeom prst="rect">
            <a:avLst/>
          </a:prstGeom>
          <a:solidFill>
            <a:srgbClr val="DD6B20"/>
          </a:solidFill>
          <a:ln/>
        </p:spPr>
      </p:sp>
      <p:sp>
        <p:nvSpPr>
          <p:cNvPr id="20" name="Text 18"/>
          <p:cNvSpPr/>
          <p:nvPr/>
        </p:nvSpPr>
        <p:spPr>
          <a:xfrm>
            <a:off x="4892040" y="2194560"/>
            <a:ext cx="1737360" cy="2194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2D3748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渐进式前端框架，数据驱动、组件化设计，高效构建交互界面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03720" y="1280160"/>
            <a:ext cx="2011680" cy="329184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03720" y="1280160"/>
            <a:ext cx="2011680" cy="54864"/>
          </a:xfrm>
          <a:prstGeom prst="rect">
            <a:avLst/>
          </a:prstGeom>
          <a:solidFill>
            <a:srgbClr val="805AD5"/>
          </a:solidFill>
          <a:ln/>
        </p:spPr>
      </p:sp>
      <p:sp>
        <p:nvSpPr>
          <p:cNvPr id="23" name="Text 21"/>
          <p:cNvSpPr/>
          <p:nvPr/>
        </p:nvSpPr>
        <p:spPr>
          <a:xfrm>
            <a:off x="6903720" y="15544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05AD5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MySQL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452360" y="1965960"/>
            <a:ext cx="914400" cy="18288"/>
          </a:xfrm>
          <a:prstGeom prst="rect">
            <a:avLst/>
          </a:prstGeom>
          <a:solidFill>
            <a:srgbClr val="805AD5"/>
          </a:solidFill>
          <a:ln/>
        </p:spPr>
      </p:sp>
      <p:sp>
        <p:nvSpPr>
          <p:cNvPr id="25" name="Text 23"/>
          <p:cNvSpPr/>
          <p:nvPr/>
        </p:nvSpPr>
        <p:spPr>
          <a:xfrm>
            <a:off x="7040880" y="2194560"/>
            <a:ext cx="1737360" cy="2194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2D3748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开源关系型数据库，高效稳定，支持高并发数据存取，社区支持完善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A365D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可行性分析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FEASIBILITY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097280" cy="27432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280160"/>
            <a:ext cx="2697480" cy="3291840"/>
          </a:xfrm>
          <a:prstGeom prst="roundRect">
            <a:avLst>
              <a:gd name="adj" fmla="val 169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2697480" cy="45720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28016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技术可行性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92024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2D3748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Java跨平台兼容性好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0080" y="256032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2D3748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SpringBoot自动配置提升效率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320040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2D3748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MySQL高效可靠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384048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2D3748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B/S架构降低门槛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37560" y="1280160"/>
            <a:ext cx="2697480" cy="3291840"/>
          </a:xfrm>
          <a:prstGeom prst="roundRect">
            <a:avLst>
              <a:gd name="adj" fmla="val 169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37560" y="1280160"/>
            <a:ext cx="2697480" cy="45720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15" name="Text 13"/>
          <p:cNvSpPr/>
          <p:nvPr/>
        </p:nvSpPr>
        <p:spPr>
          <a:xfrm>
            <a:off x="3337560" y="128016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经济可行性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520440" y="192024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2D3748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技术栈均为开源免费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520440" y="256032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2D3748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降低开发授权成本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520440" y="320040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2D3748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丰富社区资源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520440" y="384048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2D3748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模块化降低维护开销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17920" y="1280160"/>
            <a:ext cx="2697480" cy="3291840"/>
          </a:xfrm>
          <a:prstGeom prst="roundRect">
            <a:avLst>
              <a:gd name="adj" fmla="val 169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17920" y="1280160"/>
            <a:ext cx="2697480" cy="45720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22" name="Text 20"/>
          <p:cNvSpPr/>
          <p:nvPr/>
        </p:nvSpPr>
        <p:spPr>
          <a:xfrm>
            <a:off x="6217920" y="128016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操作可行性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00800" y="192024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2D3748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浏览器即可访问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00800" y="256032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2D3748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操作直观学习成本低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400800" y="320040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2D3748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数据校验自动填充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400800" y="384048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2D3748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跨平台多浏览器支持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63B3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1371600" cy="10972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200" b="1" dirty="0">
                <a:solidFill>
                  <a:srgbClr val="D69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7200" dirty="0"/>
          </a:p>
        </p:txBody>
      </p:sp>
      <p:sp>
        <p:nvSpPr>
          <p:cNvPr id="5" name="Shape 3"/>
          <p:cNvSpPr/>
          <p:nvPr/>
        </p:nvSpPr>
        <p:spPr>
          <a:xfrm>
            <a:off x="457200" y="3017520"/>
            <a:ext cx="1828800" cy="27432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32004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需求分析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3749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0CDF4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业务需求、用户需求、功能需求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A365D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数据流图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FLOW DIAGRAM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097280" cy="27432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430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A365D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图3-1 顶层数据流图</a:t>
            </a:r>
            <a:endParaRPr lang="en-US" sz="1000" dirty="0"/>
          </a:p>
        </p:txBody>
      </p:sp>
      <p:pic>
        <p:nvPicPr>
          <p:cNvPr id="7" name="Image 0" descr="/workspace/assets/fig3_1_dataflow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4023360" cy="12801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2743200"/>
            <a:ext cx="4023360" cy="164592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94360" y="283464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说明：顶层数据流图展示系统与外部实体的交互关系。系统核心外部实体为管理员与普通用户，清晰呈现两类角色与系统间的核心信息交互，包括商品管理、订单处理、用户认证等数据流向。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4754880" y="11430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A365D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图3-2 系统一层数据流图</a:t>
            </a:r>
            <a:endParaRPr lang="en-US" sz="1000" dirty="0"/>
          </a:p>
        </p:txBody>
      </p:sp>
      <p:pic>
        <p:nvPicPr>
          <p:cNvPr id="11" name="Image 1" descr="/workspace/assets/fig3_2_dataflow_layer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371600"/>
            <a:ext cx="4206240" cy="128016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4572000" y="2743200"/>
            <a:ext cx="4206240" cy="164592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709160" y="2834640"/>
            <a:ext cx="3931920" cy="1463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说明：一层数据流图将系统拆分为五大核心处理过程：用户权限管理、商品库存管理、订单交易管理、营销公告管理、系统数据管理，明确了各过程间的数据流转关系与数据存储节点。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A365D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用例图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 DIAGRAM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097280" cy="27432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430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A365D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图3-3 管理员用例图</a:t>
            </a:r>
            <a:endParaRPr lang="en-US" sz="1000" dirty="0"/>
          </a:p>
        </p:txBody>
      </p:sp>
      <p:pic>
        <p:nvPicPr>
          <p:cNvPr id="7" name="Image 0" descr="/workspace/assets/fig3_3_admin_usec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371600"/>
            <a:ext cx="3840480" cy="23774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365760" y="3840480"/>
            <a:ext cx="3840480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" y="3931920"/>
            <a:ext cx="3566160" cy="594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管理员功能：商品管理、库存监控、订单处理、公告发布、投诉建议处理、日志查看、数据统计分析等全流程管控功能。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4754880" y="11430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A365D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图3-4 用户用例图</a:t>
            </a:r>
            <a:endParaRPr lang="en-US" sz="1000" dirty="0"/>
          </a:p>
        </p:txBody>
      </p:sp>
      <p:pic>
        <p:nvPicPr>
          <p:cNvPr id="11" name="Image 1" descr="/workspace/assets/fig3_4_user_useca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371600"/>
            <a:ext cx="3840480" cy="23774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4754880" y="3840480"/>
            <a:ext cx="3840480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892040" y="3931920"/>
            <a:ext cx="3566160" cy="594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用户功能：商品浏览、在线购买、购物车管理、订单提交、优惠券领取、个人中心管理、投诉建议提交等购物服务功能。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63B3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1371600" cy="10972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200" b="1" dirty="0">
                <a:solidFill>
                  <a:srgbClr val="D69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7200" dirty="0"/>
          </a:p>
        </p:txBody>
      </p:sp>
      <p:sp>
        <p:nvSpPr>
          <p:cNvPr id="5" name="Shape 3"/>
          <p:cNvSpPr/>
          <p:nvPr/>
        </p:nvSpPr>
        <p:spPr>
          <a:xfrm>
            <a:off x="457200" y="3017520"/>
            <a:ext cx="1828800" cy="27432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32004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系统设计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3749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0CDF4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架构设计、数据库设计、模块设计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A365D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系统总体架构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ARCHITECTURE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097280" cy="27432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430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A365D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图4-1 系统总体架构图</a:t>
            </a:r>
            <a:endParaRPr lang="en-US" sz="1000" dirty="0"/>
          </a:p>
        </p:txBody>
      </p:sp>
      <p:pic>
        <p:nvPicPr>
          <p:cNvPr id="7" name="Image 0" descr="/workspace/assets/fig4_1_system_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8229600" cy="20116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3520440"/>
            <a:ext cx="822960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94360" y="3611880"/>
            <a:ext cx="7955280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2D3748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架构说明：系统采用SpringBoot+Vue前后端分离的分层架构，整体分为表现层（Vue实现用户交互）、业务逻辑层（SpringBoot处理核心业务）、数据访问层（MyBatis与MySQL交互）三层结构。各层通过接口通信，降低耦合度，满足生鲜超市多角色、全流程的管理需求。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A365D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数据库E-R图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ENTITY-RELATIONSHIP DIAGRAM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097280" cy="27432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430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A365D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图4-9 系统总体E-R图</a:t>
            </a:r>
            <a:endParaRPr lang="en-US" sz="1000" dirty="0"/>
          </a:p>
        </p:txBody>
      </p:sp>
      <p:pic>
        <p:nvPicPr>
          <p:cNvPr id="7" name="Image 0" descr="/workspace/assets/fig4_9_er_to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371600"/>
            <a:ext cx="5029200" cy="31089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577840" y="1371600"/>
            <a:ext cx="3200400" cy="3108960"/>
          </a:xfrm>
          <a:prstGeom prst="roundRect">
            <a:avLst>
              <a:gd name="adj" fmla="val 14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715000" y="146304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A365D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实体关系说明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715000" y="1828800"/>
            <a:ext cx="2926080" cy="2560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管理员实体：存储管理员信息，管理优惠券、商品、公告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用户实体：存储用户资料，可领取优惠券、查看公告、下单购买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商品信息实体：存储商品详情，用户购买产生订单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订单实体：存储交易记录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优惠券实体：存储优惠信息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公告信息实体：存储通知内容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63B3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1371600" cy="10972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200" b="1" dirty="0">
                <a:solidFill>
                  <a:srgbClr val="D69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7200" dirty="0"/>
          </a:p>
        </p:txBody>
      </p:sp>
      <p:sp>
        <p:nvSpPr>
          <p:cNvPr id="5" name="Shape 3"/>
          <p:cNvSpPr/>
          <p:nvPr/>
        </p:nvSpPr>
        <p:spPr>
          <a:xfrm>
            <a:off x="457200" y="3017520"/>
            <a:ext cx="1828800" cy="27432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32004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系统实现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3749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0CDF4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用户功能与管理员功能实现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A365D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用户功能展示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FUNCTIONS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097280" cy="27432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43000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A365D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图5-1 用户登录页面</a:t>
            </a:r>
            <a:endParaRPr lang="en-US" sz="900" dirty="0"/>
          </a:p>
        </p:txBody>
      </p:sp>
      <p:pic>
        <p:nvPicPr>
          <p:cNvPr id="7" name="Image 0" descr="/workspace/assets/fig5_1_user_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325880"/>
            <a:ext cx="2743200" cy="15544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365760" y="2926080"/>
            <a:ext cx="2743200" cy="64008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297180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2D3748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支持账号密码登录，验证通过后生成会话令牌跳转至系统前台。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3383280" y="1143000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A365D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图5-3 商品购买页面</a:t>
            </a:r>
            <a:endParaRPr lang="en-US" sz="900" dirty="0"/>
          </a:p>
        </p:txBody>
      </p:sp>
      <p:pic>
        <p:nvPicPr>
          <p:cNvPr id="11" name="Image 1" descr="/workspace/assets/fig5_3_product_purcha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325880"/>
            <a:ext cx="2743200" cy="155448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3291840" y="2926080"/>
            <a:ext cx="2743200" cy="64008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3383280" y="297180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2D3748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浏览商品列表，查看详情，加入购物车或直接购买。</a:t>
            </a:r>
            <a:endParaRPr lang="en-US" sz="800" dirty="0"/>
          </a:p>
        </p:txBody>
      </p:sp>
      <p:sp>
        <p:nvSpPr>
          <p:cNvPr id="14" name="Text 10"/>
          <p:cNvSpPr/>
          <p:nvPr/>
        </p:nvSpPr>
        <p:spPr>
          <a:xfrm>
            <a:off x="6309360" y="1143000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A365D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图5-5 优惠券领取</a:t>
            </a:r>
            <a:endParaRPr lang="en-US" sz="900" dirty="0"/>
          </a:p>
        </p:txBody>
      </p:sp>
      <p:pic>
        <p:nvPicPr>
          <p:cNvPr id="15" name="Image 2" descr="/workspace/assets/fig5_5_coup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25880"/>
            <a:ext cx="2743200" cy="155448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6217920" y="2926080"/>
            <a:ext cx="2743200" cy="64008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6309360" y="297180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2D3748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浏览可用优惠券，使用积分兑换或直接领取。</a:t>
            </a:r>
            <a:endParaRPr lang="en-US" sz="800" dirty="0"/>
          </a:p>
        </p:txBody>
      </p:sp>
      <p:sp>
        <p:nvSpPr>
          <p:cNvPr id="18" name="Text 13"/>
          <p:cNvSpPr/>
          <p:nvPr/>
        </p:nvSpPr>
        <p:spPr>
          <a:xfrm>
            <a:off x="457200" y="3657600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A365D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图5-7 个人中心</a:t>
            </a:r>
            <a:endParaRPr lang="en-US" sz="900" dirty="0"/>
          </a:p>
        </p:txBody>
      </p:sp>
      <p:pic>
        <p:nvPicPr>
          <p:cNvPr id="19" name="Image 3" descr="/workspace/assets/fig5_7_user_cent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3840480"/>
            <a:ext cx="2743200" cy="91440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3383280" y="3657600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A365D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图5-8 后台登录</a:t>
            </a:r>
            <a:endParaRPr lang="en-US" sz="900" dirty="0"/>
          </a:p>
        </p:txBody>
      </p:sp>
      <p:pic>
        <p:nvPicPr>
          <p:cNvPr id="21" name="Image 4" descr="/workspace/assets/fig5_8_admin_logi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91840" y="3840480"/>
            <a:ext cx="2743200" cy="91440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309360" y="3657600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A365D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图5-10 用户管理</a:t>
            </a:r>
            <a:endParaRPr lang="en-US" sz="900" dirty="0"/>
          </a:p>
        </p:txBody>
      </p:sp>
      <p:pic>
        <p:nvPicPr>
          <p:cNvPr id="23" name="Image 5" descr="/workspace/assets/fig5_10_user_manag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0" y="3840480"/>
            <a:ext cx="27432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A365D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管理员功能展示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FUNCTIONS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097280" cy="27432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43000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A365D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图5-11 商品信息管理</a:t>
            </a:r>
            <a:endParaRPr lang="en-US" sz="900" dirty="0"/>
          </a:p>
        </p:txBody>
      </p:sp>
      <p:pic>
        <p:nvPicPr>
          <p:cNvPr id="7" name="Image 0" descr="/workspace/assets/fig5_11_product_man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325880"/>
            <a:ext cx="2743200" cy="15544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365760" y="2926080"/>
            <a:ext cx="2743200" cy="64008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297180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2D3748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新增、编辑、删除商品，设置价格、库存、预警值，管理上下架状态。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3383280" y="1143000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A365D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图5-13 公告信息管理</a:t>
            </a:r>
            <a:endParaRPr lang="en-US" sz="900" dirty="0"/>
          </a:p>
        </p:txBody>
      </p:sp>
      <p:pic>
        <p:nvPicPr>
          <p:cNvPr id="11" name="Image 1" descr="/workspace/assets/fig5_13_news_mana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325880"/>
            <a:ext cx="2743200" cy="155448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3291840" y="2926080"/>
            <a:ext cx="2743200" cy="64008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3383280" y="297180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2D3748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发布、编辑、删除公告，支持富文本编辑，用户端实时查看。</a:t>
            </a:r>
            <a:endParaRPr lang="en-US" sz="800" dirty="0"/>
          </a:p>
        </p:txBody>
      </p:sp>
      <p:sp>
        <p:nvSpPr>
          <p:cNvPr id="14" name="Text 10"/>
          <p:cNvSpPr/>
          <p:nvPr/>
        </p:nvSpPr>
        <p:spPr>
          <a:xfrm>
            <a:off x="6309360" y="1143000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A365D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图5-15 优惠券管理</a:t>
            </a:r>
            <a:endParaRPr lang="en-US" sz="900" dirty="0"/>
          </a:p>
        </p:txBody>
      </p:sp>
      <p:pic>
        <p:nvPicPr>
          <p:cNvPr id="15" name="Image 2" descr="/workspace/assets/fig5_15_coupon_mana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25880"/>
            <a:ext cx="2743200" cy="155448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6217920" y="2926080"/>
            <a:ext cx="2743200" cy="64008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6309360" y="297180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2D3748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创建满减券、折扣券，设置使用门槛、过期时间、所需积分。</a:t>
            </a:r>
            <a:endParaRPr lang="en-US" sz="800" dirty="0"/>
          </a:p>
        </p:txBody>
      </p:sp>
      <p:sp>
        <p:nvSpPr>
          <p:cNvPr id="18" name="Text 13"/>
          <p:cNvSpPr/>
          <p:nvPr/>
        </p:nvSpPr>
        <p:spPr>
          <a:xfrm>
            <a:off x="457200" y="3657600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A365D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图5-17 系统管理</a:t>
            </a:r>
            <a:endParaRPr lang="en-US" sz="900" dirty="0"/>
          </a:p>
        </p:txBody>
      </p:sp>
      <p:pic>
        <p:nvPicPr>
          <p:cNvPr id="19" name="Image 3" descr="/workspace/assets/fig5_17_system_mana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3840480"/>
            <a:ext cx="27432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63B3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1371600" cy="10972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200" b="1" dirty="0">
                <a:solidFill>
                  <a:srgbClr val="D69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7200" dirty="0"/>
          </a:p>
        </p:txBody>
      </p:sp>
      <p:sp>
        <p:nvSpPr>
          <p:cNvPr id="5" name="Shape 3"/>
          <p:cNvSpPr/>
          <p:nvPr/>
        </p:nvSpPr>
        <p:spPr>
          <a:xfrm>
            <a:off x="457200" y="3017520"/>
            <a:ext cx="1828800" cy="27432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32004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系统测试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3749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0CDF4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测试环境、方法与测试结论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A365D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系统测试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TESTING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097280" cy="27432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887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A365D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测试环境</a:t>
            </a:r>
            <a:endParaRPr lang="en-US" sz="1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3840480" cy="2377440"/>
        </p:xfrm>
        <a:graphic>
          <a:graphicData uri="http://schemas.openxmlformats.org/drawingml/2006/table">
            <a:tbl>
              <a:tblPr/>
              <a:tblGrid>
                <a:gridCol w="1371600"/>
                <a:gridCol w="2468880"/>
              </a:tblGrid>
              <a:tr h="33963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imHei" pitchFamily="34" charset="0"/>
                          <a:ea typeface="SimHei" pitchFamily="34" charset="-122"/>
                          <a:cs typeface="SimHei" pitchFamily="34" charset="-120"/>
                        </a:rPr>
                        <a:t>项目</a:t>
                      </a:r>
                      <a:endParaRPr lang="en-US" sz="1000" dirty="0">
                        <a:latin typeface="SimHei" charset="0"/>
                        <a:ea typeface="SimHei" charset="0"/>
                        <a:cs typeface="Sim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imHei" pitchFamily="34" charset="0"/>
                          <a:ea typeface="SimHei" pitchFamily="34" charset="-122"/>
                          <a:cs typeface="SimHei" pitchFamily="34" charset="-120"/>
                        </a:rPr>
                        <a:t>配置</a:t>
                      </a:r>
                      <a:endParaRPr lang="en-US" sz="1000" dirty="0">
                        <a:latin typeface="SimHei" charset="0"/>
                        <a:ea typeface="SimHei" charset="0"/>
                        <a:cs typeface="Sim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imSun" pitchFamily="34" charset="0"/>
                          <a:ea typeface="SimSun" pitchFamily="34" charset="-122"/>
                          <a:cs typeface="SimSun" pitchFamily="34" charset="-120"/>
                        </a:rPr>
                        <a:t>操作系统</a:t>
                      </a:r>
                      <a:endParaRPr lang="en-US" sz="900" dirty="0">
                        <a:latin typeface="SimSun" charset="0"/>
                        <a:ea typeface="SimSun" charset="0"/>
                        <a:cs typeface="SimSu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imSun" pitchFamily="34" charset="0"/>
                          <a:ea typeface="SimSun" pitchFamily="34" charset="-122"/>
                          <a:cs typeface="SimSun" pitchFamily="34" charset="-120"/>
                        </a:rPr>
                        <a:t>CentOS 7.9</a:t>
                      </a:r>
                      <a:endParaRPr lang="en-US" sz="900" dirty="0">
                        <a:latin typeface="SimSun" charset="0"/>
                        <a:ea typeface="SimSun" charset="0"/>
                        <a:cs typeface="SimSu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imSun" pitchFamily="34" charset="0"/>
                          <a:ea typeface="SimSun" pitchFamily="34" charset="-122"/>
                          <a:cs typeface="SimSun" pitchFamily="34" charset="-120"/>
                        </a:rPr>
                        <a:t>处理器</a:t>
                      </a:r>
                      <a:endParaRPr lang="en-US" sz="900" dirty="0">
                        <a:latin typeface="SimSun" charset="0"/>
                        <a:ea typeface="SimSun" charset="0"/>
                        <a:cs typeface="SimSu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imSun" pitchFamily="34" charset="0"/>
                          <a:ea typeface="SimSun" pitchFamily="34" charset="-122"/>
                          <a:cs typeface="SimSun" pitchFamily="34" charset="-120"/>
                        </a:rPr>
                        <a:t>Intel Core i5-12400F</a:t>
                      </a:r>
                      <a:endParaRPr lang="en-US" sz="900" dirty="0">
                        <a:latin typeface="SimSun" charset="0"/>
                        <a:ea typeface="SimSun" charset="0"/>
                        <a:cs typeface="SimSu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imSun" pitchFamily="34" charset="0"/>
                          <a:ea typeface="SimSun" pitchFamily="34" charset="-122"/>
                          <a:cs typeface="SimSun" pitchFamily="34" charset="-120"/>
                        </a:rPr>
                        <a:t>后端框架</a:t>
                      </a:r>
                      <a:endParaRPr lang="en-US" sz="900" dirty="0">
                        <a:latin typeface="SimSun" charset="0"/>
                        <a:ea typeface="SimSun" charset="0"/>
                        <a:cs typeface="SimSu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imSun" pitchFamily="34" charset="0"/>
                          <a:ea typeface="SimSun" pitchFamily="34" charset="-122"/>
                          <a:cs typeface="SimSun" pitchFamily="34" charset="-120"/>
                        </a:rPr>
                        <a:t>SpringBoot 2.7.5</a:t>
                      </a:r>
                      <a:endParaRPr lang="en-US" sz="900" dirty="0">
                        <a:latin typeface="SimSun" charset="0"/>
                        <a:ea typeface="SimSun" charset="0"/>
                        <a:cs typeface="SimSu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imSun" pitchFamily="34" charset="0"/>
                          <a:ea typeface="SimSun" pitchFamily="34" charset="-122"/>
                          <a:cs typeface="SimSun" pitchFamily="34" charset="-120"/>
                        </a:rPr>
                        <a:t>数据库</a:t>
                      </a:r>
                      <a:endParaRPr lang="en-US" sz="900" dirty="0">
                        <a:latin typeface="SimSun" charset="0"/>
                        <a:ea typeface="SimSun" charset="0"/>
                        <a:cs typeface="SimSu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imSun" pitchFamily="34" charset="0"/>
                          <a:ea typeface="SimSun" pitchFamily="34" charset="-122"/>
                          <a:cs typeface="SimSun" pitchFamily="34" charset="-120"/>
                        </a:rPr>
                        <a:t>MySQL 8.0 + Redis</a:t>
                      </a:r>
                      <a:endParaRPr lang="en-US" sz="900" dirty="0">
                        <a:latin typeface="SimSun" charset="0"/>
                        <a:ea typeface="SimSun" charset="0"/>
                        <a:cs typeface="SimSu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imSun" pitchFamily="34" charset="0"/>
                          <a:ea typeface="SimSun" pitchFamily="34" charset="-122"/>
                          <a:cs typeface="SimSun" pitchFamily="34" charset="-120"/>
                        </a:rPr>
                        <a:t>前端框架</a:t>
                      </a:r>
                      <a:endParaRPr lang="en-US" sz="900" dirty="0">
                        <a:latin typeface="SimSun" charset="0"/>
                        <a:ea typeface="SimSun" charset="0"/>
                        <a:cs typeface="SimSu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imSun" pitchFamily="34" charset="0"/>
                          <a:ea typeface="SimSun" pitchFamily="34" charset="-122"/>
                          <a:cs typeface="SimSun" pitchFamily="34" charset="-120"/>
                        </a:rPr>
                        <a:t>Vue.js + Node.js 16</a:t>
                      </a:r>
                      <a:endParaRPr lang="en-US" sz="900" dirty="0">
                        <a:latin typeface="SimSun" charset="0"/>
                        <a:ea typeface="SimSun" charset="0"/>
                        <a:cs typeface="SimSu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imSun" pitchFamily="34" charset="0"/>
                          <a:ea typeface="SimSun" pitchFamily="34" charset="-122"/>
                          <a:cs typeface="SimSun" pitchFamily="34" charset="-120"/>
                        </a:rPr>
                        <a:t>测试方法</a:t>
                      </a:r>
                      <a:endParaRPr lang="en-US" sz="900" dirty="0">
                        <a:latin typeface="SimSun" charset="0"/>
                        <a:ea typeface="SimSun" charset="0"/>
                        <a:cs typeface="SimSu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imSun" pitchFamily="34" charset="0"/>
                          <a:ea typeface="SimSun" pitchFamily="34" charset="-122"/>
                          <a:cs typeface="SimSun" pitchFamily="34" charset="-120"/>
                        </a:rPr>
                        <a:t>黑盒测试为主、白盒测试为辅</a:t>
                      </a:r>
                      <a:endParaRPr lang="en-US" sz="900" dirty="0">
                        <a:latin typeface="SimSun" charset="0"/>
                        <a:ea typeface="SimSun" charset="0"/>
                        <a:cs typeface="SimSu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754880" y="11887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A365D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测试结果</a:t>
            </a:r>
            <a:endParaRPr lang="en-US" sz="1200" dirty="0"/>
          </a:p>
        </p:txBody>
      </p:sp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1508760"/>
          <a:ext cx="4114800" cy="2377440"/>
        </p:xfrm>
        <a:graphic>
          <a:graphicData uri="http://schemas.openxmlformats.org/drawingml/2006/table">
            <a:tbl>
              <a:tblPr/>
              <a:tblGrid>
                <a:gridCol w="2286000"/>
                <a:gridCol w="1828800"/>
              </a:tblGrid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imHei" pitchFamily="34" charset="0"/>
                          <a:ea typeface="SimHei" pitchFamily="34" charset="-122"/>
                          <a:cs typeface="SimHei" pitchFamily="34" charset="-120"/>
                        </a:rPr>
                        <a:t>测试模块</a:t>
                      </a:r>
                      <a:endParaRPr lang="en-US" sz="1000" dirty="0">
                        <a:latin typeface="SimHei" charset="0"/>
                        <a:ea typeface="SimHei" charset="0"/>
                        <a:cs typeface="Sim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imHei" pitchFamily="34" charset="0"/>
                          <a:ea typeface="SimHei" pitchFamily="34" charset="-122"/>
                          <a:cs typeface="SimHei" pitchFamily="34" charset="-120"/>
                        </a:rPr>
                        <a:t>结果</a:t>
                      </a:r>
                      <a:endParaRPr lang="en-US" sz="1000" dirty="0">
                        <a:latin typeface="SimHei" charset="0"/>
                        <a:ea typeface="SimHei" charset="0"/>
                        <a:cs typeface="Sim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imSun" pitchFamily="34" charset="0"/>
                          <a:ea typeface="SimSun" pitchFamily="34" charset="-122"/>
                          <a:cs typeface="SimSun" pitchFamily="34" charset="-120"/>
                        </a:rPr>
                        <a:t>用户登录注册</a:t>
                      </a:r>
                      <a:endParaRPr lang="en-US" sz="900" dirty="0">
                        <a:latin typeface="SimSun" charset="0"/>
                        <a:ea typeface="SimSun" charset="0"/>
                        <a:cs typeface="SimSu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8A169"/>
                          </a:solidFill>
                          <a:latin typeface="SimHei" pitchFamily="34" charset="0"/>
                          <a:ea typeface="SimHei" pitchFamily="34" charset="-122"/>
                          <a:cs typeface="SimHei" pitchFamily="34" charset="-120"/>
                        </a:rPr>
                        <a:t>✓ 通过</a:t>
                      </a:r>
                      <a:endParaRPr lang="en-US" sz="900" dirty="0">
                        <a:latin typeface="SimHei" charset="0"/>
                        <a:ea typeface="SimHei" charset="0"/>
                        <a:cs typeface="Sim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imSun" pitchFamily="34" charset="0"/>
                          <a:ea typeface="SimSun" pitchFamily="34" charset="-122"/>
                          <a:cs typeface="SimSun" pitchFamily="34" charset="-120"/>
                        </a:rPr>
                        <a:t>商品信息管理</a:t>
                      </a:r>
                      <a:endParaRPr lang="en-US" sz="900" dirty="0">
                        <a:latin typeface="SimSun" charset="0"/>
                        <a:ea typeface="SimSun" charset="0"/>
                        <a:cs typeface="SimSu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8A169"/>
                          </a:solidFill>
                          <a:latin typeface="SimHei" pitchFamily="34" charset="0"/>
                          <a:ea typeface="SimHei" pitchFamily="34" charset="-122"/>
                          <a:cs typeface="SimHei" pitchFamily="34" charset="-120"/>
                        </a:rPr>
                        <a:t>✓ 通过</a:t>
                      </a:r>
                      <a:endParaRPr lang="en-US" sz="900" dirty="0">
                        <a:latin typeface="SimHei" charset="0"/>
                        <a:ea typeface="SimHei" charset="0"/>
                        <a:cs typeface="Sim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imSun" pitchFamily="34" charset="0"/>
                          <a:ea typeface="SimSun" pitchFamily="34" charset="-122"/>
                          <a:cs typeface="SimSun" pitchFamily="34" charset="-120"/>
                        </a:rPr>
                        <a:t>订单与购买</a:t>
                      </a:r>
                      <a:endParaRPr lang="en-US" sz="900" dirty="0">
                        <a:latin typeface="SimSun" charset="0"/>
                        <a:ea typeface="SimSun" charset="0"/>
                        <a:cs typeface="SimSu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8A169"/>
                          </a:solidFill>
                          <a:latin typeface="SimHei" pitchFamily="34" charset="0"/>
                          <a:ea typeface="SimHei" pitchFamily="34" charset="-122"/>
                          <a:cs typeface="SimHei" pitchFamily="34" charset="-120"/>
                        </a:rPr>
                        <a:t>✓ 通过</a:t>
                      </a:r>
                      <a:endParaRPr lang="en-US" sz="900" dirty="0">
                        <a:latin typeface="SimHei" charset="0"/>
                        <a:ea typeface="SimHei" charset="0"/>
                        <a:cs typeface="Sim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imSun" pitchFamily="34" charset="0"/>
                          <a:ea typeface="SimSun" pitchFamily="34" charset="-122"/>
                          <a:cs typeface="SimSun" pitchFamily="34" charset="-120"/>
                        </a:rPr>
                        <a:t>库存预警</a:t>
                      </a:r>
                      <a:endParaRPr lang="en-US" sz="900" dirty="0">
                        <a:latin typeface="SimSun" charset="0"/>
                        <a:ea typeface="SimSun" charset="0"/>
                        <a:cs typeface="SimSu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8A169"/>
                          </a:solidFill>
                          <a:latin typeface="SimHei" pitchFamily="34" charset="0"/>
                          <a:ea typeface="SimHei" pitchFamily="34" charset="-122"/>
                          <a:cs typeface="SimHei" pitchFamily="34" charset="-120"/>
                        </a:rPr>
                        <a:t>✓ 通过</a:t>
                      </a:r>
                      <a:endParaRPr lang="en-US" sz="900" dirty="0">
                        <a:latin typeface="SimHei" charset="0"/>
                        <a:ea typeface="SimHei" charset="0"/>
                        <a:cs typeface="Sim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imSun" pitchFamily="34" charset="0"/>
                          <a:ea typeface="SimSun" pitchFamily="34" charset="-122"/>
                          <a:cs typeface="SimSun" pitchFamily="34" charset="-120"/>
                        </a:rPr>
                        <a:t>公告管理</a:t>
                      </a:r>
                      <a:endParaRPr lang="en-US" sz="900" dirty="0">
                        <a:latin typeface="SimSun" charset="0"/>
                        <a:ea typeface="SimSun" charset="0"/>
                        <a:cs typeface="SimSu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8A169"/>
                          </a:solidFill>
                          <a:latin typeface="SimHei" pitchFamily="34" charset="0"/>
                          <a:ea typeface="SimHei" pitchFamily="34" charset="-122"/>
                          <a:cs typeface="SimHei" pitchFamily="34" charset="-120"/>
                        </a:rPr>
                        <a:t>✓ 通过</a:t>
                      </a:r>
                      <a:endParaRPr lang="en-US" sz="900" dirty="0">
                        <a:latin typeface="SimHei" charset="0"/>
                        <a:ea typeface="SimHei" charset="0"/>
                        <a:cs typeface="Sim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imSun" pitchFamily="34" charset="0"/>
                          <a:ea typeface="SimSun" pitchFamily="34" charset="-122"/>
                          <a:cs typeface="SimSun" pitchFamily="34" charset="-120"/>
                        </a:rPr>
                        <a:t>投诉建议</a:t>
                      </a:r>
                      <a:endParaRPr lang="en-US" sz="900" dirty="0">
                        <a:latin typeface="SimSun" charset="0"/>
                        <a:ea typeface="SimSun" charset="0"/>
                        <a:cs typeface="SimSu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8A169"/>
                          </a:solidFill>
                          <a:latin typeface="SimHei" pitchFamily="34" charset="0"/>
                          <a:ea typeface="SimHei" pitchFamily="34" charset="-122"/>
                          <a:cs typeface="SimHei" pitchFamily="34" charset="-120"/>
                        </a:rPr>
                        <a:t>✓ 通过</a:t>
                      </a:r>
                      <a:endParaRPr lang="en-US" sz="900" dirty="0">
                        <a:latin typeface="SimHei" charset="0"/>
                        <a:ea typeface="SimHei" charset="0"/>
                        <a:cs typeface="Sim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imSun" pitchFamily="34" charset="0"/>
                          <a:ea typeface="SimSun" pitchFamily="34" charset="-122"/>
                          <a:cs typeface="SimSun" pitchFamily="34" charset="-120"/>
                        </a:rPr>
                        <a:t>系统日志</a:t>
                      </a:r>
                      <a:endParaRPr lang="en-US" sz="900" dirty="0">
                        <a:latin typeface="SimSun" charset="0"/>
                        <a:ea typeface="SimSun" charset="0"/>
                        <a:cs typeface="SimSu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8A169"/>
                          </a:solidFill>
                          <a:latin typeface="SimHei" pitchFamily="34" charset="0"/>
                          <a:ea typeface="SimHei" pitchFamily="34" charset="-122"/>
                          <a:cs typeface="SimHei" pitchFamily="34" charset="-120"/>
                        </a:rPr>
                        <a:t>✓ 通过</a:t>
                      </a:r>
                      <a:endParaRPr lang="en-US" sz="900" dirty="0">
                        <a:latin typeface="SimHei" charset="0"/>
                        <a:ea typeface="SimHei" charset="0"/>
                        <a:cs typeface="Sim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4023360"/>
            <a:ext cx="8229600" cy="594360"/>
          </a:xfrm>
          <a:prstGeom prst="roundRect">
            <a:avLst>
              <a:gd name="adj" fmla="val 7692"/>
            </a:avLst>
          </a:prstGeom>
          <a:solidFill>
            <a:srgbClr val="F0FFF4"/>
          </a:solidFill>
          <a:ln w="12700">
            <a:solidFill>
              <a:srgbClr val="38A169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94360" y="4069080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76749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结论：系统功能完整、性能稳定、安全可用、业务流程顺畅，完全符合生鲜超市信息化管理需求，达到预期设计目标。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A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63B3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1371600" cy="10972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200" b="1" dirty="0">
                <a:solidFill>
                  <a:srgbClr val="D69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7200" dirty="0"/>
          </a:p>
        </p:txBody>
      </p:sp>
      <p:sp>
        <p:nvSpPr>
          <p:cNvPr id="5" name="Shape 3"/>
          <p:cNvSpPr/>
          <p:nvPr/>
        </p:nvSpPr>
        <p:spPr>
          <a:xfrm>
            <a:off x="457200" y="3017520"/>
            <a:ext cx="1828800" cy="27432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32004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总结与展望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3749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0CDF4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研究成果总结与未来展望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A365D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总结与展望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 &amp; OUTLOOK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097280" cy="27432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280160"/>
            <a:ext cx="4023360" cy="3291840"/>
          </a:xfrm>
          <a:prstGeom prst="roundRect">
            <a:avLst>
              <a:gd name="adj" fmla="val 13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4023360" cy="41148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28016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工作总结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828800"/>
            <a:ext cx="3657600" cy="2651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2D3748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采用SpringBoot+Vue前后端分离架构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2D3748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B/S模式，MySQL数据库存储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2D3748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用户端：商品浏览、在线购买、优惠券、个人中心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2D3748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管理端：商品/订单/库存/用户/公告/优惠券管理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2D3748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数据可视化：Echarts多维数据分析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2D3748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系统运行稳定，功能体系完善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2D3748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满足中小型生鲜超市信息化建设需求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663440" y="1280160"/>
            <a:ext cx="4023360" cy="3291840"/>
          </a:xfrm>
          <a:prstGeom prst="roundRect">
            <a:avLst>
              <a:gd name="adj" fmla="val 13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1280160"/>
            <a:ext cx="4023360" cy="411480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12" name="Text 10"/>
          <p:cNvSpPr/>
          <p:nvPr/>
        </p:nvSpPr>
        <p:spPr>
          <a:xfrm>
            <a:off x="4663440" y="128016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未来展望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846320" y="1828800"/>
            <a:ext cx="3657600" cy="2651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2D3748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大数据分析实现个性化商品推荐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2D3748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引入AI智能客服，实时解答用户疑问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2D3748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增加供应商管理模块，优化供应链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2D3748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开发移动端APP，支持随时随地购物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2D3748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加强用户行为分析与市场趋势预测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2D3748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采用更先进的安全防护机制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2D3748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适应不断变化的市场需求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A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64592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感谢各位老师的聆听与指导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0" y="2651760"/>
            <a:ext cx="2743200" cy="27432"/>
          </a:xfrm>
          <a:prstGeom prst="rect">
            <a:avLst/>
          </a:prstGeom>
          <a:solidFill>
            <a:srgbClr val="D69E2E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926080"/>
            <a:ext cx="731520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90CDF4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答辩人：李磊    |    指导教师：王丽 / 夏威</a:t>
            </a:r>
            <a:endParaRPr lang="en-US" sz="1400" dirty="0"/>
          </a:p>
          <a:p>
            <a:pPr algn="ctr"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90CDF4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电子信息工程学院 · 计算机科学与技术</a:t>
            </a:r>
            <a:endParaRPr lang="en-US" sz="1400" dirty="0"/>
          </a:p>
          <a:p>
            <a:pPr algn="ctr" indent="0" marL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90CDF4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西安思源学院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基于SpringBoot的生鲜超市综合管理系统的设计与实现 - 毕业答辩</dc:title>
  <dc:subject>PptxGenJS Presentation</dc:subject>
  <dc:creator>李磊</dc:creator>
  <cp:lastModifiedBy>李磊</cp:lastModifiedBy>
  <cp:revision>1</cp:revision>
  <dcterms:created xsi:type="dcterms:W3CDTF">2026-05-21T11:11:10Z</dcterms:created>
  <dcterms:modified xsi:type="dcterms:W3CDTF">2026-05-21T11:11:10Z</dcterms:modified>
</cp:coreProperties>
</file>